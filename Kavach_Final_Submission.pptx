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D4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2D4F"/>
                </a:solidFill>
                <a:latin typeface="Arial"/>
              </a:rPr>
              <a:t>Primary Target Groups (% of cases)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fraud victims</c:v>
                </c:pt>
              </c:strCache>
            </c:strRef>
          </c:tx>
          <c:spPr>
            <a:solidFill>
              <a:srgbClr val="1D7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D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First-time
digital users</c:v>
                </c:pt>
                <c:pt idx="1">
                  <c:v>Senior
citizens</c:v>
                </c:pt>
                <c:pt idx="2">
                  <c:v>Rural
women</c:v>
                </c:pt>
                <c:pt idx="3">
                  <c:v>Tier-2/3
cities</c:v>
                </c:pt>
                <c:pt idx="4">
                  <c:v>Young
professionals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48</c:v>
                </c:pt>
                <c:pt idx="2">
                  <c:v>42</c:v>
                </c:pt>
                <c:pt idx="3">
                  <c:v>55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BB-9E43-9450-A491BFBE72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99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ScriptedBy{Her} 2.0 — Meesho  ·  Building for Bharat with Agentic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KAVACH 2.0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scam works by isolating you.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makes sure you never are.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90779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Fraud Shield that proactively breaks scam-induced isolation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single rupee is transferred.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7673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43552"/>
          </a:solidFill>
          <a:ln w="889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37673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43552"/>
          </a:solidFill>
          <a:ln w="889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(5 languages)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6280" y="37673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43552"/>
          </a:solidFill>
          <a:ln w="889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proprietary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0" y="822960"/>
            <a:ext cx="1645920" cy="1645920"/>
          </a:xfrm>
          <a:prstGeom prst="roundRect">
            <a:avLst>
              <a:gd name="adj" fmla="val 8333"/>
            </a:avLst>
          </a:prstGeom>
          <a:solidFill>
            <a:srgbClr val="2D4066"/>
          </a:solidFill>
          <a:ln w="1905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960120"/>
            <a:ext cx="1188720" cy="11887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 ·  Multilingual  ·  Privacy-Conscious  ·  Built for Bharat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India's Darkest Side Effect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crisis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26517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₹22,500 Cr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21208" y="1883664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cybercrime in 2025 alone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70432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170432"/>
            <a:ext cx="2651760" cy="914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12984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Lakh+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55848" y="1883664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filed (+24% YoY)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170432"/>
            <a:ext cx="2651760" cy="91440"/>
          </a:xfrm>
          <a:prstGeom prst="rect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0488" y="12984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90488" y="1883664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users have experienced fraud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724912"/>
            <a:ext cx="8321040" cy="1078992"/>
          </a:xfrm>
          <a:prstGeom prst="roundRect">
            <a:avLst>
              <a:gd name="adj" fmla="val 7627"/>
            </a:avLst>
          </a:prstGeom>
          <a:solidFill>
            <a:srgbClr val="FEF9F0"/>
          </a:solidFill>
          <a:ln w="9525">
            <a:solidFill>
              <a:srgbClr val="E8C9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7980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03580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weapon scammers use is ISOLATION — victims are kept on calls for hours, forbidden from contacting anyone, until they transfer their life savings. 60% of victims are first-time digital users. 83% never suspected they were being scammed.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913632"/>
            <a:ext cx="64008" cy="2743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9136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scams alone caused ₹3,000 Cr in losses — victims kept on video calls for up to 40 hours.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4334256"/>
            <a:ext cx="64008" cy="2743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3342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women, senior citizens and first-time users in Tier-2/3 cities are disproportionately targeted.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Everything Else Has Failed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tools are reactive — money is gone before they kick 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41605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292608" cy="292608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371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225296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 / Spam Alerts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4721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answered. Psychological damage starts immediately.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975104"/>
            <a:ext cx="41605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" y="2176272"/>
            <a:ext cx="292608" cy="292608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176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029968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Fraud Warnings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2768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popups dismissed instantly. No real intervention.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779776"/>
            <a:ext cx="41605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0352" y="2980944"/>
            <a:ext cx="292608" cy="292608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2980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83464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Check Bots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081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works if the user is already suspicious. 83% are not.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584448"/>
            <a:ext cx="41605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0352" y="3785616"/>
            <a:ext cx="292608" cy="292608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63931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 Helpline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8862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— money is typically gone before the call is made.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1170432"/>
            <a:ext cx="3886200" cy="3163824"/>
          </a:xfrm>
          <a:prstGeom prst="roundRect">
            <a:avLst>
              <a:gd name="adj" fmla="val 2601"/>
            </a:avLst>
          </a:prstGeom>
          <a:solidFill>
            <a:srgbClr val="1A2D4F"/>
          </a:solidFill>
          <a:ln w="9525">
            <a:solidFill>
              <a:srgbClr val="B896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1298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Insight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0" y="1664208"/>
            <a:ext cx="347472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1755648"/>
            <a:ext cx="3642102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don't succeed because victims are careless.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succeed because victims are DELIBERATELY ISOLATED.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Indians trust government authority — scammers exploit this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fake officials, fear &amp; urgency.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warnings won't help. Breaking isolation BEFORE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moves will.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Kavach 2.0 — The Trusted Circle Agent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agentic flow: Detect → Break Isolation → Recover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2724912" cy="361188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2724912" cy="347472"/>
          </a:xfrm>
          <a:prstGeom prst="rect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2724912" cy="118872"/>
          </a:xfrm>
          <a:prstGeom prst="rect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14300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572768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1993392"/>
            <a:ext cx="2423160" cy="3657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084832"/>
            <a:ext cx="250545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UPI transfer is initiated to an unknown recipient, Kavach starts a conversational check in the user's own language:</a:t>
            </a: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"Kya aapko kisi ne force kiya hai?"</a:t>
            </a: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tone, urgency signals — not just transaction metadata.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1143000"/>
            <a:ext cx="2724912" cy="361188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73552" y="1143000"/>
            <a:ext cx="2724912" cy="3474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73552" y="1389888"/>
            <a:ext cx="2724912" cy="1188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114300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572768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ISOLATION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83280" y="1993392"/>
            <a:ext cx="2423160" cy="3657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2084832"/>
            <a:ext cx="250545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coercion signals are detected, Kavach silently alerts the trusted contact via WhatsApp:</a:t>
            </a: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mother is about to transfer ₹40,000 under pressure. Call her NOW."</a:t>
            </a: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RBI's 2026 trusted-person proposal.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1143000"/>
            <a:ext cx="2724912" cy="361188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81344" y="1143000"/>
            <a:ext cx="2724912" cy="347472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81344" y="1389888"/>
            <a:ext cx="2724912" cy="118872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91072" y="114300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1072" y="1572768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91072" y="1993392"/>
            <a:ext cx="2423160" cy="3657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91072" y="2084832"/>
            <a:ext cx="250545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sends:</a:t>
            </a: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Calming message in user's language</a:t>
            </a: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6-step recovery guide</a:t>
            </a: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Pre-filled cybercrime.gov.in complaint</a:t>
            </a: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1930 helpline instructions</a:t>
            </a:r>
            <a:endParaRPr lang="en-US" sz="10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notification template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809744"/>
            <a:ext cx="8394192" cy="347472"/>
          </a:xfrm>
          <a:prstGeom prst="roundRect">
            <a:avLst>
              <a:gd name="adj" fmla="val 23684"/>
            </a:avLst>
          </a:prstGeom>
          <a:solidFill>
            <a:srgbClr val="FEF9F0"/>
          </a:solidFill>
          <a:ln w="9525">
            <a:solidFill>
              <a:srgbClr val="E8C9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4828032"/>
            <a:ext cx="8183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Aligned with RBI's April 2026 proposal for 'trusted-person approval' and 'cooling-period friction' for high-value UPI transfers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Meena, 54, Lucknow — Saved in 19 Minutes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arrest almost happened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2578608"/>
            <a:ext cx="7589520" cy="4572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96696" y="2450592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11:02 AM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call received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" y="283464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" y="2834640"/>
            <a:ext cx="148132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" y="2944368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CBI officer calls. Claims Aadhaar linked to money laundering. She panics.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79192" y="2450592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93976" y="12984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11:18 AM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93976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attempted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283464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48840" y="2834640"/>
            <a:ext cx="148132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21992" y="2944368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pressure, Meena opens PhonePe to transfer ₹40,000 to unknown account.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1688" y="2450592"/>
            <a:ext cx="274320" cy="27432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76472" y="12984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11:18 AM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76472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activates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31336" y="283464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31336" y="2834640"/>
            <a:ext cx="1481328" cy="6400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04488" y="2944368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new recipient + high amount. Asks in Hindi: 'Kya koi force kar raha hai?'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44184" y="2450592"/>
            <a:ext cx="274320" cy="274320"/>
          </a:xfrm>
          <a:prstGeom prst="ellipse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58968" y="12984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11:19 AM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58968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circle alerted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13832" y="283464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13832" y="2834640"/>
            <a:ext cx="1481328" cy="64008"/>
          </a:xfrm>
          <a:prstGeom prst="rect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86984" y="2944368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 confirms pressure. Kavach WhatsApps her son instantly.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26680" y="2450592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41464" y="12984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11:21 AM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41464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broken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96328" y="283464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196328" y="2834640"/>
            <a:ext cx="1481328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69480" y="2944368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calls. Scammer disconnects. Kavach guides Meena to file on 1930. ₹40,000 saved.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31720" y="4681728"/>
            <a:ext cx="4480560" cy="420624"/>
          </a:xfrm>
          <a:prstGeom prst="roundRect">
            <a:avLst>
              <a:gd name="adj" fmla="val 19565"/>
            </a:avLst>
          </a:prstGeom>
          <a:solidFill>
            <a:srgbClr val="1D7A6B"/>
          </a:solidFill>
          <a:ln w="9525">
            <a:solidFill>
              <a:srgbClr val="1D7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331720" y="468172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minutes from scam to safety  ·  Zero rupees lost  ·  ₹40,000 saved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REASON → ACT → LEARN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114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201168" cy="731520"/>
          </a:xfrm>
          <a:prstGeom prst="rect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123444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" y="1490472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 hook intercepts transaction. Reads amount, recipient history, user age, time of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40280" y="1901952"/>
            <a:ext cx="64008" cy="1188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020824"/>
            <a:ext cx="4114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020824"/>
            <a:ext cx="201168" cy="73152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" y="208483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" y="2340864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analyses conversation in real time — detecting fear signals, urgency language, authority impersonation.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40280" y="2752344"/>
            <a:ext cx="64008" cy="1188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4114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20116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" y="293522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" y="3191256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trusted contact via WhatsApp/SMS. Pauses payment. Triggers recovery flow autonomously.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40280" y="3602736"/>
            <a:ext cx="64008" cy="1188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721608"/>
            <a:ext cx="4114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721608"/>
            <a:ext cx="201168" cy="7315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" y="378561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" y="404164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scam pattern library grows with every flagged case — improving detection accuracy over time.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Tech Stack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591056"/>
            <a:ext cx="402336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16276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(llama3-8b)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1792224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— free, fastest response (~0.5s)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011680"/>
            <a:ext cx="402336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20482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2212848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LLM if Groq unavailable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432304"/>
            <a:ext cx="402336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24688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633472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fallback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852928"/>
            <a:ext cx="402336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288950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detection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054096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fallback — works with zero API keys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73552"/>
            <a:ext cx="402336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92040" y="33101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474720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 interface + trusted contact alerts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694176"/>
            <a:ext cx="402336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92040" y="37307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(Govt India)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895344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Multilingual: Hindi, Telugu, Tamil, Bengali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4114800"/>
            <a:ext cx="402336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41513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92040" y="4315968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 if WhatsApp delivery fails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535424"/>
            <a:ext cx="402336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92040" y="45720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92040" y="4736592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fully async, production-ready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Protect &amp; Why It Matters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Kavach's addressable reach and target demographic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188720"/>
          <a:ext cx="46634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257800" y="1207008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500M+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839712" y="1353312"/>
            <a:ext cx="36576" cy="40233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49440" y="1298448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users — Kavach's addressable market today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57800" y="2157984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94960" y="2231136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~₹3,000 Cr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839712" y="2304288"/>
            <a:ext cx="36576" cy="40233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949440" y="2249424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losses per year — directly targeted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57800" y="310896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94960" y="31821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6839712" y="3255264"/>
            <a:ext cx="36576" cy="40233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49440" y="320040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who never suspected they were being scammed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4041648"/>
            <a:ext cx="8366760" cy="777240"/>
          </a:xfrm>
          <a:prstGeom prst="roundRect">
            <a:avLst>
              <a:gd name="adj" fmla="val 10588"/>
            </a:avLst>
          </a:prstGeom>
          <a:solidFill>
            <a:srgbClr val="EBF5F3"/>
          </a:solidFill>
          <a:ln w="9525">
            <a:solidFill>
              <a:srgbClr val="1D7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aligns with Meesho's mission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435254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Bharat — Meesho's core users — are disproportionately targeted due to lower digital literacy and greater trust in authority figures. Kavach's Hindi-first conversational AI directly addresses this demographic with zero technical barrier.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Kavach 2.0 vs Existing Approaches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timely, truly agentic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2880360" cy="347472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70432"/>
            <a:ext cx="1234440" cy="347472"/>
          </a:xfrm>
          <a:prstGeom prst="rect">
            <a:avLst/>
          </a:prstGeom>
          <a:solidFill>
            <a:srgbClr val="1D7A6B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17043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2.0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170432"/>
            <a:ext cx="1143000" cy="347472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5152" y="1170432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1170432"/>
            <a:ext cx="1143000" cy="347472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33872" y="1170432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Alerts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170432"/>
            <a:ext cx="1143000" cy="347472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22592" y="1170432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517904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1517904"/>
            <a:ext cx="2807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— no user trigger needed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1517904"/>
            <a:ext cx="1234440" cy="457200"/>
          </a:xfrm>
          <a:prstGeom prst="rect">
            <a:avLst/>
          </a:prstGeom>
          <a:solidFill>
            <a:srgbClr val="EBF5F3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64992" y="1517904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1517904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1517904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1517904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33872" y="1517904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1517904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22592" y="1517904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1993392"/>
            <a:ext cx="28803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1993392"/>
            <a:ext cx="2807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isolation in real-time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91840" y="1993392"/>
            <a:ext cx="1234440" cy="457200"/>
          </a:xfrm>
          <a:prstGeom prst="rect">
            <a:avLst/>
          </a:prstGeom>
          <a:solidFill>
            <a:srgbClr val="EBF5F3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64992" y="1993392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1993392"/>
            <a:ext cx="11430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45152" y="1993392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60720" y="1993392"/>
            <a:ext cx="11430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33872" y="1993392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949440" y="1993392"/>
            <a:ext cx="11430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22592" y="1993392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2468880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8912" y="2468880"/>
            <a:ext cx="2807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language (Hindi etc.)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91840" y="2468880"/>
            <a:ext cx="1234440" cy="457200"/>
          </a:xfrm>
          <a:prstGeom prst="rect">
            <a:avLst/>
          </a:prstGeom>
          <a:solidFill>
            <a:srgbClr val="EBF5F3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64992" y="2468880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2468880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45152" y="2468880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760720" y="2468880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33872" y="2468880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49440" y="2468880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22592" y="2468880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65760" y="2944368"/>
            <a:ext cx="28803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8912" y="2944368"/>
            <a:ext cx="2807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trusted contacts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91840" y="2944368"/>
            <a:ext cx="1234440" cy="457200"/>
          </a:xfrm>
          <a:prstGeom prst="rect">
            <a:avLst/>
          </a:prstGeom>
          <a:solidFill>
            <a:srgbClr val="EBF5F3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364992" y="2944368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572000" y="2944368"/>
            <a:ext cx="11430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45152" y="2944368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760720" y="2944368"/>
            <a:ext cx="11430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833872" y="2944368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949440" y="2944368"/>
            <a:ext cx="11430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022592" y="2944368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65760" y="3419856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38912" y="3419856"/>
            <a:ext cx="2807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recovery guidance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291840" y="3419856"/>
            <a:ext cx="1234440" cy="457200"/>
          </a:xfrm>
          <a:prstGeom prst="rect">
            <a:avLst/>
          </a:prstGeom>
          <a:solidFill>
            <a:srgbClr val="EBF5F3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364992" y="3419856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572000" y="3419856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645152" y="3419856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760720" y="3419856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833872" y="3419856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949440" y="3419856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022592" y="3419856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65760" y="3895344"/>
            <a:ext cx="28803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38912" y="3895344"/>
            <a:ext cx="2807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RBI 2026 proposal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291840" y="3895344"/>
            <a:ext cx="1234440" cy="457200"/>
          </a:xfrm>
          <a:prstGeom prst="rect">
            <a:avLst/>
          </a:prstGeom>
          <a:solidFill>
            <a:srgbClr val="EBF5F3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364992" y="3895344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572000" y="3895344"/>
            <a:ext cx="11430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645152" y="3895344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760720" y="3895344"/>
            <a:ext cx="11430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833872" y="3895344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949440" y="3895344"/>
            <a:ext cx="11430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022592" y="3895344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365760" y="4681728"/>
            <a:ext cx="8366760" cy="402336"/>
          </a:xfrm>
          <a:prstGeom prst="roundRect">
            <a:avLst>
              <a:gd name="adj" fmla="val 20455"/>
            </a:avLst>
          </a:prstGeom>
          <a:solidFill>
            <a:srgbClr val="EBF5F3"/>
          </a:solidFill>
          <a:ln w="9525">
            <a:solidFill>
              <a:srgbClr val="1D7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30352" y="470001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2.0 is the only solution that is both proactive and community-aware — combining agentic AI, vernacular language support and a trusted human network to break scam-induced isolation.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 prototype — deployed live on Vercel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4-Step Demo UI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4114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1755648"/>
            <a:ext cx="310896" cy="310896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755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161848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1865376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name, phone, age, language, trusted contact details → saved to database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4114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2560320"/>
            <a:ext cx="310896" cy="310896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560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2423160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App Selection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2670048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PhonePe / Google Pay / Paytm / BHIM → simulates real UPI intent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63824"/>
            <a:ext cx="4114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3364992"/>
            <a:ext cx="310896" cy="310896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364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22783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Screen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6112" y="3474720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recipient number + amount → Kavach AI intercepts and risk-scores instantly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68496"/>
            <a:ext cx="4114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4169664"/>
            <a:ext cx="310896" cy="310896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4169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403250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AI Chat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427939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flow: detection question → scam type selection → recovery → complaint letter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11704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1572768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agentic loop: PERCEIVE → REASON → ACT → LEARN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1911096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Risk scoring across 6 factors (amount, age, time, recipient etc.)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2249424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Scam detection: Groq → Gemini → Claude → keyword fallback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2587752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Detection conversation in Hindi, Telugu, Tamil, Bengali, English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2926080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Trusted contact alert via WhatsApp Business API + Twilio SMS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3264408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recovery flow: calming msg → 6 steps → complaint → helpline → bank notice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54880" y="3602736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Pre-filled cybercrime.gov.in complaint letter (formatted)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0" y="3941064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Bank notification template (formatted, copy-paste ready)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0" y="4279392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34 passing tests across agent, detector, and flow state machine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4617720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Deployed live on Vercel with public demo URL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681728"/>
            <a:ext cx="8366760" cy="420624"/>
          </a:xfrm>
          <a:prstGeom prst="roundRect">
            <a:avLst>
              <a:gd name="adj" fmla="val 19565"/>
            </a:avLst>
          </a:prstGeom>
          <a:solidFill>
            <a:srgbClr val="1A2D4F"/>
          </a:solidFill>
          <a:ln w="9525">
            <a:solidFill>
              <a:srgbClr val="B896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681728"/>
            <a:ext cx="8366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kavach2-theta.vercel.app   |   💻 github.com/BhavanaR006/kavach2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Limitations &amp; Design Decisions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what's simulated and why — all reflect real platform restrictions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90575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1856232" cy="329184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170432"/>
            <a:ext cx="2130552" cy="329184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04872" y="117043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Vision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170432"/>
            <a:ext cx="2130552" cy="329184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5152" y="117043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Implementation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1170432"/>
            <a:ext cx="1920240" cy="329184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85432" y="1170432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499616"/>
            <a:ext cx="185623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1517904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App Integration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1720" y="1499616"/>
            <a:ext cx="2130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86584" y="151790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deep-link into PhonePe/GPay via UPI intent API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499616"/>
            <a:ext cx="2130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26864" y="151790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UPI payment screen in demo UI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1499616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67144" y="1517904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apps do not expose public payment APIs to third parties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048256"/>
            <a:ext cx="1856232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" y="2066544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Portal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31720" y="2048256"/>
            <a:ext cx="2130552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386584" y="206654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complaint on cybercrime.gov.in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2048256"/>
            <a:ext cx="2130552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26864" y="206654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portal in new tab + pre-filled complaint letter to copy-paste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12280" y="2048256"/>
            <a:ext cx="19202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67144" y="2066544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has no public form submission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2596896"/>
            <a:ext cx="185623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0624" y="2615184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Delivery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31720" y="2596896"/>
            <a:ext cx="2130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86584" y="261518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WhatsApp messages to user's phone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596896"/>
            <a:ext cx="2130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26864" y="261518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fully integrated — token regenerated daily in test mode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12280" y="2596896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67144" y="2615184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issues 24-hr temp token in test/dev mode; permanent token needs business verification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145536"/>
            <a:ext cx="1856232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0624" y="3163824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 Freeze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31720" y="3145536"/>
            <a:ext cx="2130552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86584" y="316382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call to user's bank to freeze transfer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3145536"/>
            <a:ext cx="2130552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26864" y="316382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Pre-formatted bank notification letter for user to send manually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12280" y="3145536"/>
            <a:ext cx="19202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67144" y="3163824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banks have no public fraud-freeze API for third parties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694176"/>
            <a:ext cx="185623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0624" y="3712464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Live Translation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31720" y="3694176"/>
            <a:ext cx="2130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386584" y="371246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translation for all messages in 5 languages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3694176"/>
            <a:ext cx="2130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26864" y="371246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Pre-translated strings used as fallback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12280" y="3694176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67144" y="3712464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API approval from Govt takes 1-2 days; key pending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242816"/>
            <a:ext cx="1856232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20624" y="4261104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331720" y="4242816"/>
            <a:ext cx="2130552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386584" y="426110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inference for all users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0" y="4242816"/>
            <a:ext cx="2130552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626864" y="426110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fallback: Groq → Gemini → Claude → keyword detection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12280" y="4242816"/>
            <a:ext cx="19202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67144" y="4261104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rate limits on Groq (30 req/min) and Gemini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65760" y="4741164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reflect real-world platform restrictions — not concept limitations. In a production deployment with proper partnerships, all of these would be live integrations</a:t>
            </a: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31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planned vs what was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" y="4937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Bloom  ·  Bhavana R  ·  IIT Gandhinagar  ·  ScriptedBy{Her} 2.0 — Meesho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2029968" cy="36576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2029968" cy="164592"/>
          </a:xfrm>
          <a:prstGeom prst="rect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17043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6276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Detection 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066544"/>
            <a:ext cx="1755648" cy="3657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15798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WhatsApp bot interface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LLM scam signal detector (Groq/Gemini/Claude)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18211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Risk scoring logic (6 factors)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9417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Hindi &amp; Telugu language support via BHASHINI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96312" y="1170432"/>
            <a:ext cx="2029968" cy="36576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96312" y="1170432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96312" y="1389888"/>
            <a:ext cx="2029968" cy="164592"/>
          </a:xfrm>
          <a:prstGeom prst="rect">
            <a:avLst/>
          </a:prstGeom>
          <a:solidFill>
            <a:srgbClr val="1A2D4F"/>
          </a:solidFill>
          <a:ln w="12700">
            <a:solidFill>
              <a:srgbClr val="1A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87752" y="117043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87752" y="16276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Circle Alerts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87752" y="2066544"/>
            <a:ext cx="1755648" cy="3657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87752" y="215798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Trusted contact setup (user onboarding form)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87752" y="267004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WhatsApp + Twilio SMS alert flow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87752" y="318211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Coercion confirmation dialogue (Yes/No buttons)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87752" y="369417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Consent &amp; privacy controls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72584" y="1170432"/>
            <a:ext cx="2029968" cy="36576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72584" y="1170432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72584" y="1389888"/>
            <a:ext cx="2029968" cy="16459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64024" y="117043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64024" y="16276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Automation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64024" y="2066544"/>
            <a:ext cx="1755648" cy="3657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64024" y="215798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Auto-generate cybercrime complaint letter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64024" y="267004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Bank notification template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64024" y="318211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6-step recovery guide (multilingual)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64024" y="369417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1930 helpline instructions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48856" y="1170432"/>
            <a:ext cx="2029968" cy="36576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48856" y="1170432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848856" y="1389888"/>
            <a:ext cx="2029968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40296" y="117043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0296" y="16276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Demo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0296" y="2066544"/>
            <a:ext cx="1755648" cy="3657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40296" y="215798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4-step demo UI (UPI → WhatsApp flow)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0296" y="267004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scam conversation demo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0296" y="318211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Trusted contact alert simulation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0296" y="369417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Deployed on Vercel — public URL live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83464" y="4809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tools: WhatsApp Business API  ·  Anthropic Claude API  ·  Groq API  ·  BHASHINI (MeitY, Govt of India)  ·  Twilio  ·  I4C Public Scam Data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D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KAVACH 2.0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166420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A9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scam works by making you feel alone.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Kavach makes sure you never are.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2194560" cy="1417320"/>
          </a:xfrm>
          <a:prstGeom prst="roundRect">
            <a:avLst>
              <a:gd name="adj" fmla="val 5806"/>
            </a:avLst>
          </a:prstGeom>
          <a:solidFill>
            <a:srgbClr val="243552"/>
          </a:solidFill>
          <a:ln w="9525">
            <a:solidFill>
              <a:srgbClr val="B896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8163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users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2194560" cy="1417320"/>
          </a:xfrm>
          <a:prstGeom prst="roundRect">
            <a:avLst>
              <a:gd name="adj" fmla="val 5806"/>
            </a:avLst>
          </a:prstGeom>
          <a:solidFill>
            <a:srgbClr val="243552"/>
          </a:solidFill>
          <a:ln w="9525">
            <a:solidFill>
              <a:srgbClr val="B896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28163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sprint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0" y="33832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full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2194560" cy="1417320"/>
          </a:xfrm>
          <a:prstGeom prst="roundRect">
            <a:avLst>
              <a:gd name="adj" fmla="val 5806"/>
            </a:avLst>
          </a:prstGeom>
          <a:solidFill>
            <a:srgbClr val="243552"/>
          </a:solidFill>
          <a:ln w="9525">
            <a:solidFill>
              <a:srgbClr val="B896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28163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33832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Bharat  ·  Powered by Agentic AI  ·  Team Bloom — ScriptedBy{Her} 2.0, Meesho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1833</Words>
  <Application>Microsoft Macintosh PowerPoint</Application>
  <PresentationFormat>On-screen Show (16:9)</PresentationFormat>
  <Paragraphs>294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Kavach 2.0 — Final Submission</dc:title>
  <dc:subject>PptxGenJS Presentation</dc:subject>
  <dc:creator>PptxGenJS</dc:creator>
  <cp:lastModifiedBy>Bhavana Ravi</cp:lastModifiedBy>
  <cp:revision>2</cp:revision>
  <dcterms:created xsi:type="dcterms:W3CDTF">2026-07-19T15:06:56Z</dcterms:created>
  <dcterms:modified xsi:type="dcterms:W3CDTF">2026-07-19T15:24:14Z</dcterms:modified>
</cp:coreProperties>
</file>