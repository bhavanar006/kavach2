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2B3F58"/>
          </a:solidFill>
          <a:ln w="12700">
            <a:solidFill>
              <a:srgbClr val="2B3F58"/>
            </a:solidFill>
            <a:prstDash val="solid"/>
          </a:ln>
        </p:spPr>
      </p:sp>
      <p:sp>
        <p:nvSpPr>
          <p:cNvPr id="3" name="Shape 1"/>
          <p:cNvSpPr/>
          <p:nvPr/>
        </p:nvSpPr>
        <p:spPr>
          <a:xfrm>
            <a:off x="7772400" y="457200"/>
            <a:ext cx="2286000" cy="2286000"/>
          </a:xfrm>
          <a:prstGeom prst="ellipse">
            <a:avLst/>
          </a:prstGeom>
          <a:solidFill>
            <a:srgbClr val="9C7A3C">
              <a:alpha val="25000"/>
            </a:srgbClr>
          </a:solidFill>
          <a:ln w="12700">
            <a:solidFill>
              <a:srgbClr val="9C7A3C">
                <a:alpha val="25000"/>
              </a:srgbClr>
            </a:solidFill>
            <a:prstDash val="solid"/>
          </a:ln>
        </p:spPr>
      </p:sp>
      <p:sp>
        <p:nvSpPr>
          <p:cNvPr id="4" name="Shape 2"/>
          <p:cNvSpPr/>
          <p:nvPr/>
        </p:nvSpPr>
        <p:spPr>
          <a:xfrm>
            <a:off x="-1097280" y="3200400"/>
            <a:ext cx="3200400" cy="3200400"/>
          </a:xfrm>
          <a:prstGeom prst="ellipse">
            <a:avLst/>
          </a:prstGeom>
          <a:solidFill>
            <a:srgbClr val="2B3F58"/>
          </a:solidFill>
          <a:ln w="12700">
            <a:solidFill>
              <a:srgbClr val="2B3F58"/>
            </a:solidFill>
            <a:prstDash val="solid"/>
          </a:ln>
        </p:spPr>
      </p:sp>
      <p:sp>
        <p:nvSpPr>
          <p:cNvPr id="5" name="Text 3"/>
          <p:cNvSpPr/>
          <p:nvPr/>
        </p:nvSpPr>
        <p:spPr>
          <a:xfrm>
            <a:off x="548640" y="320040"/>
            <a:ext cx="7315200" cy="274320"/>
          </a:xfrm>
          <a:prstGeom prst="rect">
            <a:avLst/>
          </a:prstGeom>
          <a:noFill/>
          <a:ln/>
        </p:spPr>
        <p:txBody>
          <a:bodyPr wrap="square" lIns="0" tIns="0" rIns="0" bIns="0" rtlCol="0" anchor="ctr"/>
          <a:lstStyle/>
          <a:p>
            <a:pPr algn="l" indent="0" marL="0">
              <a:buNone/>
            </a:pPr>
            <a:r>
              <a:rPr lang="en-US" sz="900" spc="100" kern="0" dirty="0">
                <a:solidFill>
                  <a:srgbClr val="9AA6B2"/>
                </a:solidFill>
                <a:latin typeface="Calibri" pitchFamily="34" charset="0"/>
                <a:ea typeface="Calibri" pitchFamily="34" charset="-122"/>
                <a:cs typeface="Calibri" pitchFamily="34" charset="-120"/>
              </a:rPr>
              <a:t>Team Bloom  ·  ScriptedBy{Her} 2.0 — Meesho  ·  Building for Bharat with Agentic AI</a:t>
            </a:r>
            <a:endParaRPr lang="en-US" sz="900" dirty="0"/>
          </a:p>
        </p:txBody>
      </p:sp>
      <p:sp>
        <p:nvSpPr>
          <p:cNvPr id="6" name="Text 4"/>
          <p:cNvSpPr/>
          <p:nvPr/>
        </p:nvSpPr>
        <p:spPr>
          <a:xfrm>
            <a:off x="548640" y="914400"/>
            <a:ext cx="6858000" cy="1005840"/>
          </a:xfrm>
          <a:prstGeom prst="rect">
            <a:avLst/>
          </a:prstGeom>
          <a:noFill/>
          <a:ln/>
        </p:spPr>
        <p:txBody>
          <a:bodyPr wrap="square" lIns="0" tIns="0" rIns="0" bIns="0" rtlCol="0" anchor="ctr"/>
          <a:lstStyle/>
          <a:p>
            <a:pPr algn="l" indent="0" marL="0">
              <a:buNone/>
            </a:pPr>
            <a:r>
              <a:rPr lang="en-US" sz="6200" b="1" dirty="0">
                <a:solidFill>
                  <a:srgbClr val="FFFFFF"/>
                </a:solidFill>
                <a:latin typeface="Cambria" pitchFamily="34" charset="0"/>
                <a:ea typeface="Cambria" pitchFamily="34" charset="-122"/>
                <a:cs typeface="Cambria" pitchFamily="34" charset="-120"/>
              </a:rPr>
              <a:t>KAVACH 2.0</a:t>
            </a:r>
            <a:endParaRPr lang="en-US" sz="6200" dirty="0"/>
          </a:p>
        </p:txBody>
      </p:sp>
      <p:sp>
        <p:nvSpPr>
          <p:cNvPr id="7" name="Shape 5"/>
          <p:cNvSpPr/>
          <p:nvPr/>
        </p:nvSpPr>
        <p:spPr>
          <a:xfrm>
            <a:off x="502920" y="2057400"/>
            <a:ext cx="164592" cy="164592"/>
          </a:xfrm>
          <a:prstGeom prst="ellipse">
            <a:avLst/>
          </a:prstGeom>
          <a:solidFill>
            <a:srgbClr val="9C7A3C"/>
          </a:solidFill>
          <a:ln w="12700">
            <a:solidFill>
              <a:srgbClr val="9C7A3C"/>
            </a:solidFill>
            <a:prstDash val="solid"/>
          </a:ln>
        </p:spPr>
      </p:sp>
      <p:sp>
        <p:nvSpPr>
          <p:cNvPr id="8" name="Text 6"/>
          <p:cNvSpPr/>
          <p:nvPr/>
        </p:nvSpPr>
        <p:spPr>
          <a:xfrm>
            <a:off x="777240" y="1965960"/>
            <a:ext cx="6858000" cy="384048"/>
          </a:xfrm>
          <a:prstGeom prst="rect">
            <a:avLst/>
          </a:prstGeom>
          <a:noFill/>
          <a:ln/>
        </p:spPr>
        <p:txBody>
          <a:bodyPr wrap="square" lIns="0" tIns="0" rIns="0" bIns="0" rtlCol="0" anchor="ctr"/>
          <a:lstStyle/>
          <a:p>
            <a:pPr algn="l" indent="0" marL="0">
              <a:buNone/>
            </a:pPr>
            <a:r>
              <a:rPr lang="en-US" sz="1800" i="1" dirty="0">
                <a:solidFill>
                  <a:srgbClr val="FFFFFF"/>
                </a:solidFill>
                <a:latin typeface="Calibri" pitchFamily="34" charset="0"/>
                <a:ea typeface="Calibri" pitchFamily="34" charset="-122"/>
                <a:cs typeface="Calibri" pitchFamily="34" charset="-120"/>
              </a:rPr>
              <a:t>Every scam works by isolating you.</a:t>
            </a:r>
            <a:endParaRPr lang="en-US" sz="1800" dirty="0"/>
          </a:p>
        </p:txBody>
      </p:sp>
      <p:sp>
        <p:nvSpPr>
          <p:cNvPr id="9" name="Text 7"/>
          <p:cNvSpPr/>
          <p:nvPr/>
        </p:nvSpPr>
        <p:spPr>
          <a:xfrm>
            <a:off x="777240" y="2377440"/>
            <a:ext cx="6858000" cy="384048"/>
          </a:xfrm>
          <a:prstGeom prst="rect">
            <a:avLst/>
          </a:prstGeom>
          <a:noFill/>
          <a:ln/>
        </p:spPr>
        <p:txBody>
          <a:bodyPr wrap="square" lIns="0" tIns="0" rIns="0" bIns="0" rtlCol="0" anchor="ctr"/>
          <a:lstStyle/>
          <a:p>
            <a:pPr algn="l" indent="0" marL="0">
              <a:buNone/>
            </a:pPr>
            <a:r>
              <a:rPr lang="en-US" sz="1800" b="1" dirty="0">
                <a:solidFill>
                  <a:srgbClr val="9C7A3C"/>
                </a:solidFill>
                <a:latin typeface="Calibri" pitchFamily="34" charset="0"/>
                <a:ea typeface="Calibri" pitchFamily="34" charset="-122"/>
                <a:cs typeface="Calibri" pitchFamily="34" charset="-120"/>
              </a:rPr>
              <a:t>Kavach makes sure you never are.</a:t>
            </a:r>
            <a:endParaRPr lang="en-US" sz="1800" dirty="0"/>
          </a:p>
        </p:txBody>
      </p:sp>
      <p:sp>
        <p:nvSpPr>
          <p:cNvPr id="10" name="Text 8"/>
          <p:cNvSpPr/>
          <p:nvPr/>
        </p:nvSpPr>
        <p:spPr>
          <a:xfrm>
            <a:off x="548640" y="3017520"/>
            <a:ext cx="5943600" cy="777240"/>
          </a:xfrm>
          <a:prstGeom prst="rect">
            <a:avLst/>
          </a:prstGeom>
          <a:noFill/>
          <a:ln/>
        </p:spPr>
        <p:txBody>
          <a:bodyPr wrap="square" lIns="0" tIns="0" rIns="0" bIns="0" rtlCol="0" anchor="ctr"/>
          <a:lstStyle/>
          <a:p>
            <a:pPr algn="l" indent="0" marL="0">
              <a:buNone/>
            </a:pPr>
            <a:r>
              <a:rPr lang="en-US" sz="1250" dirty="0">
                <a:solidFill>
                  <a:srgbClr val="9AA6B2"/>
                </a:solidFill>
                <a:latin typeface="Calibri" pitchFamily="34" charset="0"/>
                <a:ea typeface="Calibri" pitchFamily="34" charset="-122"/>
                <a:cs typeface="Calibri" pitchFamily="34" charset="-120"/>
              </a:rPr>
              <a:t>An agentic AI fraud shield that proactively breaks scam-induced isolation —</a:t>
            </a:r>
            <a:endParaRPr lang="en-US" sz="1250" dirty="0"/>
          </a:p>
          <a:p>
            <a:pPr algn="l" indent="0" marL="0">
              <a:buNone/>
            </a:pPr>
            <a:r>
              <a:rPr lang="en-US" sz="1250" dirty="0">
                <a:solidFill>
                  <a:srgbClr val="9AA6B2"/>
                </a:solidFill>
                <a:latin typeface="Calibri" pitchFamily="34" charset="0"/>
                <a:ea typeface="Calibri" pitchFamily="34" charset="-122"/>
                <a:cs typeface="Calibri" pitchFamily="34" charset="-120"/>
              </a:rPr>
              <a:t>before a single rupee is transferred.</a:t>
            </a:r>
            <a:endParaRPr lang="en-US" sz="1250" dirty="0"/>
          </a:p>
        </p:txBody>
      </p:sp>
      <p:sp>
        <p:nvSpPr>
          <p:cNvPr id="11" name="Shape 9"/>
          <p:cNvSpPr/>
          <p:nvPr/>
        </p:nvSpPr>
        <p:spPr>
          <a:xfrm>
            <a:off x="7223760" y="1828800"/>
            <a:ext cx="1463040" cy="1737360"/>
          </a:xfrm>
          <a:prstGeom prst="roundRect">
            <a:avLst>
              <a:gd name="adj" fmla="val 7500"/>
            </a:avLst>
          </a:prstGeom>
          <a:solidFill>
            <a:srgbClr val="9C7A3C">
              <a:alpha val="12000"/>
            </a:srgbClr>
          </a:solidFill>
          <a:ln w="19050">
            <a:solidFill>
              <a:srgbClr val="9C7A3C">
                <a:alpha val="45000"/>
              </a:srgbClr>
            </a:solidFill>
            <a:prstDash val="solid"/>
          </a:ln>
        </p:spPr>
      </p:sp>
      <p:sp>
        <p:nvSpPr>
          <p:cNvPr id="12" name="Text 10"/>
          <p:cNvSpPr/>
          <p:nvPr/>
        </p:nvSpPr>
        <p:spPr>
          <a:xfrm>
            <a:off x="7223760" y="1828800"/>
            <a:ext cx="1463040" cy="1737360"/>
          </a:xfrm>
          <a:prstGeom prst="rect">
            <a:avLst/>
          </a:prstGeom>
          <a:noFill/>
          <a:ln/>
        </p:spPr>
        <p:txBody>
          <a:bodyPr wrap="square" lIns="0" tIns="0" rIns="0" bIns="0" rtlCol="0" anchor="ctr"/>
          <a:lstStyle/>
          <a:p>
            <a:pPr algn="ctr" indent="0" marL="0">
              <a:buNone/>
            </a:pPr>
            <a:r>
              <a:rPr lang="en-US" sz="5600" b="1" dirty="0">
                <a:solidFill>
                  <a:srgbClr val="9C7A3C"/>
                </a:solidFill>
                <a:latin typeface="Cambria" pitchFamily="34" charset="0"/>
                <a:ea typeface="Cambria" pitchFamily="34" charset="-122"/>
                <a:cs typeface="Cambria" pitchFamily="34" charset="-120"/>
              </a:rPr>
              <a:t>K</a:t>
            </a:r>
            <a:endParaRPr lang="en-US" sz="5600" dirty="0"/>
          </a:p>
        </p:txBody>
      </p:sp>
      <p:sp>
        <p:nvSpPr>
          <p:cNvPr id="13" name="Shape 11"/>
          <p:cNvSpPr/>
          <p:nvPr/>
        </p:nvSpPr>
        <p:spPr>
          <a:xfrm>
            <a:off x="0" y="4800600"/>
            <a:ext cx="9144000" cy="342900"/>
          </a:xfrm>
          <a:prstGeom prst="rect">
            <a:avLst/>
          </a:prstGeom>
          <a:solidFill>
            <a:srgbClr val="2B3F58"/>
          </a:solidFill>
          <a:ln w="12700">
            <a:solidFill>
              <a:srgbClr val="2B3F58"/>
            </a:solidFill>
            <a:prstDash val="solid"/>
          </a:ln>
        </p:spPr>
      </p:sp>
      <p:sp>
        <p:nvSpPr>
          <p:cNvPr id="14" name="Text 12"/>
          <p:cNvSpPr/>
          <p:nvPr/>
        </p:nvSpPr>
        <p:spPr>
          <a:xfrm>
            <a:off x="457200" y="4828032"/>
            <a:ext cx="8229600" cy="292608"/>
          </a:xfrm>
          <a:prstGeom prst="rect">
            <a:avLst/>
          </a:prstGeom>
          <a:noFill/>
          <a:ln/>
        </p:spPr>
        <p:txBody>
          <a:bodyPr wrap="square" lIns="0" tIns="0" rIns="0" bIns="0" rtlCol="0" anchor="ctr"/>
          <a:lstStyle/>
          <a:p>
            <a:pPr algn="ctr" indent="0" marL="0">
              <a:buNone/>
            </a:pPr>
            <a:r>
              <a:rPr lang="en-US" sz="950" spc="150" kern="0" dirty="0">
                <a:solidFill>
                  <a:srgbClr val="9AA6B2"/>
                </a:solidFill>
                <a:latin typeface="Calibri" pitchFamily="34" charset="0"/>
                <a:ea typeface="Calibri" pitchFamily="34" charset="-122"/>
                <a:cs typeface="Calibri" pitchFamily="34" charset="-120"/>
              </a:rPr>
              <a:t>Proactive  ·  Multilingual  ·  Privacy-Conscious  ·  Built for Bharat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1"/>
          </a:solidFill>
          <a:ln w="12700">
            <a:solidFill>
              <a:srgbClr val="1B2A41"/>
            </a:solidFill>
            <a:prstDash val="solid"/>
          </a:ln>
        </p:spPr>
      </p:sp>
      <p:sp>
        <p:nvSpPr>
          <p:cNvPr id="3" name="Text 1"/>
          <p:cNvSpPr/>
          <p:nvPr/>
        </p:nvSpPr>
        <p:spPr>
          <a:xfrm>
            <a:off x="502920" y="91440"/>
            <a:ext cx="3657600" cy="41148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CRISIS</a:t>
            </a:r>
            <a:endParaRPr lang="en-US" sz="2200" dirty="0"/>
          </a:p>
        </p:txBody>
      </p:sp>
      <p:sp>
        <p:nvSpPr>
          <p:cNvPr id="4" name="Text 2"/>
          <p:cNvSpPr/>
          <p:nvPr/>
        </p:nvSpPr>
        <p:spPr>
          <a:xfrm>
            <a:off x="502920" y="530352"/>
            <a:ext cx="5486400" cy="320040"/>
          </a:xfrm>
          <a:prstGeom prst="rect">
            <a:avLst/>
          </a:prstGeom>
          <a:noFill/>
          <a:ln/>
        </p:spPr>
        <p:txBody>
          <a:bodyPr wrap="square" lIns="0" tIns="0" rIns="0" bIns="0" rtlCol="0" anchor="ctr"/>
          <a:lstStyle/>
          <a:p>
            <a:pPr algn="l" indent="0" marL="0">
              <a:buNone/>
            </a:pPr>
            <a:r>
              <a:rPr lang="en-US" sz="1150" dirty="0">
                <a:solidFill>
                  <a:srgbClr val="9AA6B2"/>
                </a:solidFill>
                <a:latin typeface="Calibri" pitchFamily="34" charset="0"/>
                <a:ea typeface="Calibri" pitchFamily="34" charset="-122"/>
                <a:cs typeface="Calibri" pitchFamily="34" charset="-120"/>
              </a:rPr>
              <a:t>Digital India's Darkest Side Effect</a:t>
            </a:r>
            <a:endParaRPr lang="en-US" sz="1150" dirty="0"/>
          </a:p>
        </p:txBody>
      </p:sp>
      <p:sp>
        <p:nvSpPr>
          <p:cNvPr id="5" name="Shape 3"/>
          <p:cNvSpPr/>
          <p:nvPr/>
        </p:nvSpPr>
        <p:spPr>
          <a:xfrm>
            <a:off x="365760" y="1143000"/>
            <a:ext cx="2651760" cy="1828800"/>
          </a:xfrm>
          <a:prstGeom prst="roundRect">
            <a:avLst>
              <a:gd name="adj" fmla="val 6000"/>
            </a:avLst>
          </a:prstGeom>
          <a:solidFill>
            <a:srgbClr val="FFFFFF"/>
          </a:solidFill>
          <a:ln w="12700">
            <a:solidFill>
              <a:srgbClr val="E0E0F0"/>
            </a:solidFill>
            <a:prstDash val="solid"/>
          </a:ln>
          <a:effectLst>
            <a:outerShdw sx="100000" sy="100000" kx="0" ky="0" algn="bl" rotWithShape="0" blurRad="127000" dist="38100" dir="5400000">
              <a:srgbClr val="000000">
                <a:alpha val="7000"/>
              </a:srgbClr>
            </a:outerShdw>
          </a:effectLst>
        </p:spPr>
      </p:sp>
      <p:sp>
        <p:nvSpPr>
          <p:cNvPr id="6" name="Shape 4"/>
          <p:cNvSpPr/>
          <p:nvPr/>
        </p:nvSpPr>
        <p:spPr>
          <a:xfrm>
            <a:off x="365760" y="1143000"/>
            <a:ext cx="2651760" cy="164592"/>
          </a:xfrm>
          <a:prstGeom prst="rect">
            <a:avLst/>
          </a:prstGeom>
          <a:solidFill>
            <a:srgbClr val="9C7A3C"/>
          </a:solidFill>
          <a:ln w="12700">
            <a:solidFill>
              <a:srgbClr val="9C7A3C"/>
            </a:solidFill>
            <a:prstDash val="solid"/>
          </a:ln>
        </p:spPr>
      </p:sp>
      <p:sp>
        <p:nvSpPr>
          <p:cNvPr id="7" name="Text 5"/>
          <p:cNvSpPr/>
          <p:nvPr/>
        </p:nvSpPr>
        <p:spPr>
          <a:xfrm>
            <a:off x="365760" y="1371600"/>
            <a:ext cx="2651760" cy="777240"/>
          </a:xfrm>
          <a:prstGeom prst="rect">
            <a:avLst/>
          </a:prstGeom>
          <a:noFill/>
          <a:ln/>
        </p:spPr>
        <p:txBody>
          <a:bodyPr wrap="square" lIns="0" tIns="0" rIns="0" bIns="0" rtlCol="0" anchor="ctr"/>
          <a:lstStyle/>
          <a:p>
            <a:pPr algn="ctr" indent="0" marL="0">
              <a:buNone/>
            </a:pPr>
            <a:r>
              <a:rPr lang="en-US" sz="3200" b="1" dirty="0">
                <a:solidFill>
                  <a:srgbClr val="1B2A41"/>
                </a:solidFill>
                <a:latin typeface="Cambria" pitchFamily="34" charset="0"/>
                <a:ea typeface="Cambria" pitchFamily="34" charset="-122"/>
                <a:cs typeface="Cambria" pitchFamily="34" charset="-120"/>
              </a:rPr>
              <a:t>₹22,500 Cr</a:t>
            </a:r>
            <a:endParaRPr lang="en-US" sz="3200" dirty="0"/>
          </a:p>
        </p:txBody>
      </p:sp>
      <p:sp>
        <p:nvSpPr>
          <p:cNvPr id="8" name="Text 6"/>
          <p:cNvSpPr/>
          <p:nvPr/>
        </p:nvSpPr>
        <p:spPr>
          <a:xfrm>
            <a:off x="365760" y="2176272"/>
            <a:ext cx="2651760" cy="658368"/>
          </a:xfrm>
          <a:prstGeom prst="rect">
            <a:avLst/>
          </a:prstGeom>
          <a:noFill/>
          <a:ln/>
        </p:spPr>
        <p:txBody>
          <a:bodyPr wrap="square" lIns="0" tIns="0" rIns="0" bIns="0" rtlCol="0" anchor="ctr"/>
          <a:lstStyle/>
          <a:p>
            <a:pPr algn="ctr" indent="0" marL="0">
              <a:buNone/>
            </a:pPr>
            <a:r>
              <a:rPr lang="en-US" sz="1100" dirty="0">
                <a:solidFill>
                  <a:srgbClr val="4D5A6B"/>
                </a:solidFill>
                <a:latin typeface="Calibri" pitchFamily="34" charset="0"/>
                <a:ea typeface="Calibri" pitchFamily="34" charset="-122"/>
                <a:cs typeface="Calibri" pitchFamily="34" charset="-120"/>
              </a:rPr>
              <a:t>Lost to cyber fraud</a:t>
            </a:r>
            <a:endParaRPr lang="en-US" sz="1100" dirty="0"/>
          </a:p>
          <a:p>
            <a:pPr algn="ctr" indent="0" marL="0">
              <a:buNone/>
            </a:pPr>
            <a:r>
              <a:rPr lang="en-US" sz="1100" dirty="0">
                <a:solidFill>
                  <a:srgbClr val="4D5A6B"/>
                </a:solidFill>
                <a:latin typeface="Calibri" pitchFamily="34" charset="0"/>
                <a:ea typeface="Calibri" pitchFamily="34" charset="-122"/>
                <a:cs typeface="Calibri" pitchFamily="34" charset="-120"/>
              </a:rPr>
              <a:t>in 2025 alone</a:t>
            </a:r>
            <a:endParaRPr lang="en-US" sz="1100" dirty="0"/>
          </a:p>
        </p:txBody>
      </p:sp>
      <p:sp>
        <p:nvSpPr>
          <p:cNvPr id="9" name="Shape 7"/>
          <p:cNvSpPr/>
          <p:nvPr/>
        </p:nvSpPr>
        <p:spPr>
          <a:xfrm>
            <a:off x="3337560" y="1143000"/>
            <a:ext cx="2651760" cy="1828800"/>
          </a:xfrm>
          <a:prstGeom prst="roundRect">
            <a:avLst>
              <a:gd name="adj" fmla="val 6000"/>
            </a:avLst>
          </a:prstGeom>
          <a:solidFill>
            <a:srgbClr val="FFFFFF"/>
          </a:solidFill>
          <a:ln w="12700">
            <a:solidFill>
              <a:srgbClr val="E0E0F0"/>
            </a:solidFill>
            <a:prstDash val="solid"/>
          </a:ln>
          <a:effectLst>
            <a:outerShdw sx="100000" sy="100000" kx="0" ky="0" algn="bl" rotWithShape="0" blurRad="127000" dist="38100" dir="5400000">
              <a:srgbClr val="000000">
                <a:alpha val="7000"/>
              </a:srgbClr>
            </a:outerShdw>
          </a:effectLst>
        </p:spPr>
      </p:sp>
      <p:sp>
        <p:nvSpPr>
          <p:cNvPr id="10" name="Shape 8"/>
          <p:cNvSpPr/>
          <p:nvPr/>
        </p:nvSpPr>
        <p:spPr>
          <a:xfrm>
            <a:off x="3337560" y="1143000"/>
            <a:ext cx="2651760" cy="164592"/>
          </a:xfrm>
          <a:prstGeom prst="rect">
            <a:avLst/>
          </a:prstGeom>
          <a:solidFill>
            <a:srgbClr val="9C7A3C"/>
          </a:solidFill>
          <a:ln w="12700">
            <a:solidFill>
              <a:srgbClr val="9C7A3C"/>
            </a:solidFill>
            <a:prstDash val="solid"/>
          </a:ln>
        </p:spPr>
      </p:sp>
      <p:sp>
        <p:nvSpPr>
          <p:cNvPr id="11" name="Text 9"/>
          <p:cNvSpPr/>
          <p:nvPr/>
        </p:nvSpPr>
        <p:spPr>
          <a:xfrm>
            <a:off x="3337560" y="1371600"/>
            <a:ext cx="2651760" cy="777240"/>
          </a:xfrm>
          <a:prstGeom prst="rect">
            <a:avLst/>
          </a:prstGeom>
          <a:noFill/>
          <a:ln/>
        </p:spPr>
        <p:txBody>
          <a:bodyPr wrap="square" lIns="0" tIns="0" rIns="0" bIns="0" rtlCol="0" anchor="ctr"/>
          <a:lstStyle/>
          <a:p>
            <a:pPr algn="ctr" indent="0" marL="0">
              <a:buNone/>
            </a:pPr>
            <a:r>
              <a:rPr lang="en-US" sz="3200" b="1" dirty="0">
                <a:solidFill>
                  <a:srgbClr val="1B2A41"/>
                </a:solidFill>
                <a:latin typeface="Cambria" pitchFamily="34" charset="0"/>
                <a:ea typeface="Cambria" pitchFamily="34" charset="-122"/>
                <a:cs typeface="Cambria" pitchFamily="34" charset="-120"/>
              </a:rPr>
              <a:t>28 Lakh+</a:t>
            </a:r>
            <a:endParaRPr lang="en-US" sz="3200" dirty="0"/>
          </a:p>
        </p:txBody>
      </p:sp>
      <p:sp>
        <p:nvSpPr>
          <p:cNvPr id="12" name="Text 10"/>
          <p:cNvSpPr/>
          <p:nvPr/>
        </p:nvSpPr>
        <p:spPr>
          <a:xfrm>
            <a:off x="3337560" y="2176272"/>
            <a:ext cx="2651760" cy="658368"/>
          </a:xfrm>
          <a:prstGeom prst="rect">
            <a:avLst/>
          </a:prstGeom>
          <a:noFill/>
          <a:ln/>
        </p:spPr>
        <p:txBody>
          <a:bodyPr wrap="square" lIns="0" tIns="0" rIns="0" bIns="0" rtlCol="0" anchor="ctr"/>
          <a:lstStyle/>
          <a:p>
            <a:pPr algn="ctr" indent="0" marL="0">
              <a:buNone/>
            </a:pPr>
            <a:r>
              <a:rPr lang="en-US" sz="1100" dirty="0">
                <a:solidFill>
                  <a:srgbClr val="4D5A6B"/>
                </a:solidFill>
                <a:latin typeface="Calibri" pitchFamily="34" charset="0"/>
                <a:ea typeface="Calibri" pitchFamily="34" charset="-122"/>
                <a:cs typeface="Calibri" pitchFamily="34" charset="-120"/>
              </a:rPr>
              <a:t>Fraud cases filed</a:t>
            </a:r>
            <a:endParaRPr lang="en-US" sz="1100" dirty="0"/>
          </a:p>
          <a:p>
            <a:pPr algn="ctr" indent="0" marL="0">
              <a:buNone/>
            </a:pPr>
            <a:r>
              <a:rPr lang="en-US" sz="1100" dirty="0">
                <a:solidFill>
                  <a:srgbClr val="4D5A6B"/>
                </a:solidFill>
                <a:latin typeface="Calibri" pitchFamily="34" charset="0"/>
                <a:ea typeface="Calibri" pitchFamily="34" charset="-122"/>
                <a:cs typeface="Calibri" pitchFamily="34" charset="-120"/>
              </a:rPr>
              <a:t>in 2025 (+24% YoY)</a:t>
            </a:r>
            <a:endParaRPr lang="en-US" sz="1100" dirty="0"/>
          </a:p>
        </p:txBody>
      </p:sp>
      <p:sp>
        <p:nvSpPr>
          <p:cNvPr id="13" name="Shape 11"/>
          <p:cNvSpPr/>
          <p:nvPr/>
        </p:nvSpPr>
        <p:spPr>
          <a:xfrm>
            <a:off x="6309360" y="1143000"/>
            <a:ext cx="2651760" cy="1828800"/>
          </a:xfrm>
          <a:prstGeom prst="roundRect">
            <a:avLst>
              <a:gd name="adj" fmla="val 6000"/>
            </a:avLst>
          </a:prstGeom>
          <a:solidFill>
            <a:srgbClr val="FFFFFF"/>
          </a:solidFill>
          <a:ln w="12700">
            <a:solidFill>
              <a:srgbClr val="E0E0F0"/>
            </a:solidFill>
            <a:prstDash val="solid"/>
          </a:ln>
          <a:effectLst>
            <a:outerShdw sx="100000" sy="100000" kx="0" ky="0" algn="bl" rotWithShape="0" blurRad="127000" dist="38100" dir="5400000">
              <a:srgbClr val="000000">
                <a:alpha val="7000"/>
              </a:srgbClr>
            </a:outerShdw>
          </a:effectLst>
        </p:spPr>
      </p:sp>
      <p:sp>
        <p:nvSpPr>
          <p:cNvPr id="14" name="Shape 12"/>
          <p:cNvSpPr/>
          <p:nvPr/>
        </p:nvSpPr>
        <p:spPr>
          <a:xfrm>
            <a:off x="6309360" y="1143000"/>
            <a:ext cx="2651760" cy="164592"/>
          </a:xfrm>
          <a:prstGeom prst="rect">
            <a:avLst/>
          </a:prstGeom>
          <a:solidFill>
            <a:srgbClr val="9C7A3C"/>
          </a:solidFill>
          <a:ln w="12700">
            <a:solidFill>
              <a:srgbClr val="9C7A3C"/>
            </a:solidFill>
            <a:prstDash val="solid"/>
          </a:ln>
        </p:spPr>
      </p:sp>
      <p:sp>
        <p:nvSpPr>
          <p:cNvPr id="15" name="Text 13"/>
          <p:cNvSpPr/>
          <p:nvPr/>
        </p:nvSpPr>
        <p:spPr>
          <a:xfrm>
            <a:off x="6309360" y="1371600"/>
            <a:ext cx="2651760" cy="777240"/>
          </a:xfrm>
          <a:prstGeom prst="rect">
            <a:avLst/>
          </a:prstGeom>
          <a:noFill/>
          <a:ln/>
        </p:spPr>
        <p:txBody>
          <a:bodyPr wrap="square" lIns="0" tIns="0" rIns="0" bIns="0" rtlCol="0" anchor="ctr"/>
          <a:lstStyle/>
          <a:p>
            <a:pPr algn="ctr" indent="0" marL="0">
              <a:buNone/>
            </a:pPr>
            <a:r>
              <a:rPr lang="en-US" sz="3200" b="1" dirty="0">
                <a:solidFill>
                  <a:srgbClr val="1B2A41"/>
                </a:solidFill>
                <a:latin typeface="Cambria" pitchFamily="34" charset="0"/>
                <a:ea typeface="Cambria" pitchFamily="34" charset="-122"/>
                <a:cs typeface="Cambria" pitchFamily="34" charset="-120"/>
              </a:rPr>
              <a:t>1 in 5</a:t>
            </a:r>
            <a:endParaRPr lang="en-US" sz="3200" dirty="0"/>
          </a:p>
        </p:txBody>
      </p:sp>
      <p:sp>
        <p:nvSpPr>
          <p:cNvPr id="16" name="Text 14"/>
          <p:cNvSpPr/>
          <p:nvPr/>
        </p:nvSpPr>
        <p:spPr>
          <a:xfrm>
            <a:off x="6309360" y="2176272"/>
            <a:ext cx="2651760" cy="658368"/>
          </a:xfrm>
          <a:prstGeom prst="rect">
            <a:avLst/>
          </a:prstGeom>
          <a:noFill/>
          <a:ln/>
        </p:spPr>
        <p:txBody>
          <a:bodyPr wrap="square" lIns="0" tIns="0" rIns="0" bIns="0" rtlCol="0" anchor="ctr"/>
          <a:lstStyle/>
          <a:p>
            <a:pPr algn="ctr" indent="0" marL="0">
              <a:buNone/>
            </a:pPr>
            <a:r>
              <a:rPr lang="en-US" sz="1100" dirty="0">
                <a:solidFill>
                  <a:srgbClr val="4D5A6B"/>
                </a:solidFill>
                <a:latin typeface="Calibri" pitchFamily="34" charset="0"/>
                <a:ea typeface="Calibri" pitchFamily="34" charset="-122"/>
                <a:cs typeface="Calibri" pitchFamily="34" charset="-120"/>
              </a:rPr>
              <a:t>UPI users have</a:t>
            </a:r>
            <a:endParaRPr lang="en-US" sz="1100" dirty="0"/>
          </a:p>
          <a:p>
            <a:pPr algn="ctr" indent="0" marL="0">
              <a:buNone/>
            </a:pPr>
            <a:r>
              <a:rPr lang="en-US" sz="1100" dirty="0">
                <a:solidFill>
                  <a:srgbClr val="4D5A6B"/>
                </a:solidFill>
                <a:latin typeface="Calibri" pitchFamily="34" charset="0"/>
                <a:ea typeface="Calibri" pitchFamily="34" charset="-122"/>
                <a:cs typeface="Calibri" pitchFamily="34" charset="-120"/>
              </a:rPr>
              <a:t>been scammed</a:t>
            </a:r>
            <a:endParaRPr lang="en-US" sz="1100" dirty="0"/>
          </a:p>
        </p:txBody>
      </p:sp>
      <p:sp>
        <p:nvSpPr>
          <p:cNvPr id="17" name="Shape 15"/>
          <p:cNvSpPr/>
          <p:nvPr/>
        </p:nvSpPr>
        <p:spPr>
          <a:xfrm>
            <a:off x="365760" y="3154680"/>
            <a:ext cx="8412480" cy="1481328"/>
          </a:xfrm>
          <a:prstGeom prst="roundRect">
            <a:avLst>
              <a:gd name="adj" fmla="val 7407"/>
            </a:avLst>
          </a:prstGeom>
          <a:solidFill>
            <a:srgbClr val="1B2A41"/>
          </a:solidFill>
          <a:ln w="12700">
            <a:solidFill>
              <a:srgbClr val="1B2A41"/>
            </a:solidFill>
            <a:prstDash val="solid"/>
          </a:ln>
        </p:spPr>
      </p:sp>
      <p:sp>
        <p:nvSpPr>
          <p:cNvPr id="18" name="Shape 16"/>
          <p:cNvSpPr/>
          <p:nvPr/>
        </p:nvSpPr>
        <p:spPr>
          <a:xfrm>
            <a:off x="502920" y="3218688"/>
            <a:ext cx="502920" cy="502920"/>
          </a:xfrm>
          <a:prstGeom prst="ellipse">
            <a:avLst/>
          </a:prstGeom>
          <a:solidFill>
            <a:srgbClr val="9C7A3C"/>
          </a:solidFill>
          <a:ln w="12700">
            <a:solidFill>
              <a:srgbClr val="9C7A3C"/>
            </a:solidFill>
            <a:prstDash val="solid"/>
          </a:ln>
        </p:spPr>
      </p:sp>
      <p:sp>
        <p:nvSpPr>
          <p:cNvPr id="19" name="Text 17"/>
          <p:cNvSpPr/>
          <p:nvPr/>
        </p:nvSpPr>
        <p:spPr>
          <a:xfrm>
            <a:off x="502920" y="321868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20" name="Text 18"/>
          <p:cNvSpPr/>
          <p:nvPr/>
        </p:nvSpPr>
        <p:spPr>
          <a:xfrm>
            <a:off x="1143000" y="3246120"/>
            <a:ext cx="713232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primary weapon is isolation:</a:t>
            </a:r>
            <a:endParaRPr lang="en-US" sz="1300" dirty="0"/>
          </a:p>
        </p:txBody>
      </p:sp>
      <p:sp>
        <p:nvSpPr>
          <p:cNvPr id="21" name="Text 19"/>
          <p:cNvSpPr/>
          <p:nvPr/>
        </p:nvSpPr>
        <p:spPr>
          <a:xfrm>
            <a:off x="1005840" y="3611880"/>
            <a:ext cx="7406640" cy="868680"/>
          </a:xfrm>
          <a:prstGeom prst="rect">
            <a:avLst/>
          </a:prstGeom>
          <a:noFill/>
          <a:ln/>
        </p:spPr>
        <p:txBody>
          <a:bodyPr wrap="square" lIns="0" tIns="0" rIns="0" bIns="0" rtlCol="0" anchor="ctr"/>
          <a:lstStyle/>
          <a:p>
            <a:pPr indent="0" marL="0">
              <a:buNone/>
            </a:pPr>
            <a:r>
              <a:rPr lang="en-US" sz="1150" dirty="0">
                <a:solidFill>
                  <a:srgbClr val="CCCCDD"/>
                </a:solidFill>
                <a:latin typeface="Calibri" pitchFamily="34" charset="0"/>
                <a:ea typeface="Calibri" pitchFamily="34" charset="-122"/>
                <a:cs typeface="Calibri" pitchFamily="34" charset="-120"/>
              </a:rPr>
              <a:t>Victims are kept on calls for hours, forbidden to contact anyone, coerced to transfer their savings.</a:t>
            </a:r>
            <a:endParaRPr lang="en-US" sz="1150" dirty="0"/>
          </a:p>
          <a:p>
            <a:pPr indent="0" marL="0">
              <a:buNone/>
            </a:pPr>
            <a:r>
              <a:rPr lang="en-US" sz="1150" dirty="0">
                <a:solidFill>
                  <a:srgbClr val="CCCCDD"/>
                </a:solidFill>
                <a:latin typeface="Calibri" pitchFamily="34" charset="0"/>
                <a:ea typeface="Calibri" pitchFamily="34" charset="-122"/>
                <a:cs typeface="Calibri" pitchFamily="34" charset="-120"/>
              </a:rPr>
              <a:t>60% of victims are first-time digital users — least equipped to defend themselves.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1"/>
          </a:solidFill>
          <a:ln w="12700">
            <a:solidFill>
              <a:srgbClr val="1B2A41"/>
            </a:solidFill>
            <a:prstDash val="solid"/>
          </a:ln>
        </p:spPr>
      </p:sp>
      <p:sp>
        <p:nvSpPr>
          <p:cNvPr id="3" name="Text 1"/>
          <p:cNvSpPr/>
          <p:nvPr/>
        </p:nvSpPr>
        <p:spPr>
          <a:xfrm>
            <a:off x="502920" y="91440"/>
            <a:ext cx="3657600" cy="41148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GAP</a:t>
            </a:r>
            <a:endParaRPr lang="en-US" sz="2200" dirty="0"/>
          </a:p>
        </p:txBody>
      </p:sp>
      <p:sp>
        <p:nvSpPr>
          <p:cNvPr id="4" name="Text 2"/>
          <p:cNvSpPr/>
          <p:nvPr/>
        </p:nvSpPr>
        <p:spPr>
          <a:xfrm>
            <a:off x="502920" y="530352"/>
            <a:ext cx="6400800" cy="320040"/>
          </a:xfrm>
          <a:prstGeom prst="rect">
            <a:avLst/>
          </a:prstGeom>
          <a:noFill/>
          <a:ln/>
        </p:spPr>
        <p:txBody>
          <a:bodyPr wrap="square" lIns="0" tIns="0" rIns="0" bIns="0" rtlCol="0" anchor="ctr"/>
          <a:lstStyle/>
          <a:p>
            <a:pPr algn="l" indent="0" marL="0">
              <a:buNone/>
            </a:pPr>
            <a:r>
              <a:rPr lang="en-US" sz="1150" dirty="0">
                <a:solidFill>
                  <a:srgbClr val="9AA6B2"/>
                </a:solidFill>
                <a:latin typeface="Calibri" pitchFamily="34" charset="0"/>
                <a:ea typeface="Calibri" pitchFamily="34" charset="-122"/>
                <a:cs typeface="Calibri" pitchFamily="34" charset="-120"/>
              </a:rPr>
              <a:t>Why existing tools fail — and why they always will</a:t>
            </a:r>
            <a:endParaRPr lang="en-US" sz="1150" dirty="0"/>
          </a:p>
        </p:txBody>
      </p:sp>
      <p:sp>
        <p:nvSpPr>
          <p:cNvPr id="5" name="Shape 3"/>
          <p:cNvSpPr/>
          <p:nvPr/>
        </p:nvSpPr>
        <p:spPr>
          <a:xfrm>
            <a:off x="365760" y="1097280"/>
            <a:ext cx="4572000" cy="685800"/>
          </a:xfrm>
          <a:prstGeom prst="roundRect">
            <a:avLst>
              <a:gd name="adj" fmla="val 13333"/>
            </a:avLst>
          </a:prstGeom>
          <a:solidFill>
            <a:srgbClr val="FFFFFF"/>
          </a:solidFill>
          <a:ln w="12700">
            <a:solidFill>
              <a:srgbClr val="E0E0F0"/>
            </a:solidFill>
            <a:prstDash val="solid"/>
          </a:ln>
          <a:effectLst>
            <a:outerShdw sx="100000" sy="100000" kx="0" ky="0" algn="bl" rotWithShape="0" blurRad="76200" dist="25400" dir="5400000">
              <a:srgbClr val="000000">
                <a:alpha val="6000"/>
              </a:srgbClr>
            </a:outerShdw>
          </a:effectLst>
        </p:spPr>
      </p:sp>
      <p:sp>
        <p:nvSpPr>
          <p:cNvPr id="6" name="Shape 4"/>
          <p:cNvSpPr/>
          <p:nvPr/>
        </p:nvSpPr>
        <p:spPr>
          <a:xfrm>
            <a:off x="502920" y="1298448"/>
            <a:ext cx="274320" cy="274320"/>
          </a:xfrm>
          <a:prstGeom prst="ellipse">
            <a:avLst/>
          </a:prstGeom>
          <a:solidFill>
            <a:srgbClr val="EAD7D7"/>
          </a:solidFill>
          <a:ln w="12700">
            <a:solidFill>
              <a:srgbClr val="EAD7D7"/>
            </a:solidFill>
            <a:prstDash val="solid"/>
          </a:ln>
        </p:spPr>
      </p:sp>
      <p:sp>
        <p:nvSpPr>
          <p:cNvPr id="7" name="Text 5"/>
          <p:cNvSpPr/>
          <p:nvPr/>
        </p:nvSpPr>
        <p:spPr>
          <a:xfrm>
            <a:off x="502920" y="1298448"/>
            <a:ext cx="274320" cy="274320"/>
          </a:xfrm>
          <a:prstGeom prst="rect">
            <a:avLst/>
          </a:prstGeom>
          <a:noFill/>
          <a:ln/>
        </p:spPr>
        <p:txBody>
          <a:bodyPr wrap="square" lIns="0" tIns="0" rIns="0" bIns="0" rtlCol="0" anchor="ctr"/>
          <a:lstStyle/>
          <a:p>
            <a:pPr algn="ctr" indent="0" marL="0">
              <a:buNone/>
            </a:pPr>
            <a:r>
              <a:rPr lang="en-US" sz="1000" b="1" dirty="0">
                <a:solidFill>
                  <a:srgbClr val="8A3A3A"/>
                </a:solidFill>
              </a:rPr>
              <a:t>✕</a:t>
            </a:r>
            <a:endParaRPr lang="en-US" sz="1000" dirty="0"/>
          </a:p>
        </p:txBody>
      </p:sp>
      <p:sp>
        <p:nvSpPr>
          <p:cNvPr id="8" name="Text 6"/>
          <p:cNvSpPr/>
          <p:nvPr/>
        </p:nvSpPr>
        <p:spPr>
          <a:xfrm>
            <a:off x="914400" y="1143000"/>
            <a:ext cx="3840480" cy="27432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Truecaller / Spam Alerts</a:t>
            </a:r>
            <a:endParaRPr lang="en-US" sz="1200" dirty="0"/>
          </a:p>
        </p:txBody>
      </p:sp>
      <p:sp>
        <p:nvSpPr>
          <p:cNvPr id="9" name="Text 7"/>
          <p:cNvSpPr/>
          <p:nvPr/>
        </p:nvSpPr>
        <p:spPr>
          <a:xfrm>
            <a:off x="914400" y="1435608"/>
            <a:ext cx="3840480" cy="274320"/>
          </a:xfrm>
          <a:prstGeom prst="rect">
            <a:avLst/>
          </a:prstGeom>
          <a:noFill/>
          <a:ln/>
        </p:spPr>
        <p:txBody>
          <a:bodyPr wrap="square" lIns="0" tIns="0" rIns="0" bIns="0" rtlCol="0" anchor="ctr"/>
          <a:lstStyle/>
          <a:p>
            <a:pPr indent="0" marL="0">
              <a:buNone/>
            </a:pPr>
            <a:r>
              <a:rPr lang="en-US" sz="1050" dirty="0">
                <a:solidFill>
                  <a:srgbClr val="4D5A6B"/>
                </a:solidFill>
                <a:latin typeface="Calibri" pitchFamily="34" charset="0"/>
                <a:ea typeface="Calibri" pitchFamily="34" charset="-122"/>
                <a:cs typeface="Calibri" pitchFamily="34" charset="-120"/>
              </a:rPr>
              <a:t>Reactive — you already answered. Damage done.</a:t>
            </a:r>
            <a:endParaRPr lang="en-US" sz="1050" dirty="0"/>
          </a:p>
        </p:txBody>
      </p:sp>
      <p:sp>
        <p:nvSpPr>
          <p:cNvPr id="10" name="Shape 8"/>
          <p:cNvSpPr/>
          <p:nvPr/>
        </p:nvSpPr>
        <p:spPr>
          <a:xfrm>
            <a:off x="365760" y="1901952"/>
            <a:ext cx="4572000" cy="685800"/>
          </a:xfrm>
          <a:prstGeom prst="roundRect">
            <a:avLst>
              <a:gd name="adj" fmla="val 13333"/>
            </a:avLst>
          </a:prstGeom>
          <a:solidFill>
            <a:srgbClr val="FFFFFF"/>
          </a:solidFill>
          <a:ln w="12700">
            <a:solidFill>
              <a:srgbClr val="E0E0F0"/>
            </a:solidFill>
            <a:prstDash val="solid"/>
          </a:ln>
          <a:effectLst>
            <a:outerShdw sx="100000" sy="100000" kx="0" ky="0" algn="bl" rotWithShape="0" blurRad="76200" dist="25400" dir="5400000">
              <a:srgbClr val="000000">
                <a:alpha val="6000"/>
              </a:srgbClr>
            </a:outerShdw>
          </a:effectLst>
        </p:spPr>
      </p:sp>
      <p:sp>
        <p:nvSpPr>
          <p:cNvPr id="11" name="Shape 9"/>
          <p:cNvSpPr/>
          <p:nvPr/>
        </p:nvSpPr>
        <p:spPr>
          <a:xfrm>
            <a:off x="502920" y="2103120"/>
            <a:ext cx="274320" cy="274320"/>
          </a:xfrm>
          <a:prstGeom prst="ellipse">
            <a:avLst/>
          </a:prstGeom>
          <a:solidFill>
            <a:srgbClr val="EAD7D7"/>
          </a:solidFill>
          <a:ln w="12700">
            <a:solidFill>
              <a:srgbClr val="EAD7D7"/>
            </a:solidFill>
            <a:prstDash val="solid"/>
          </a:ln>
        </p:spPr>
      </p:sp>
      <p:sp>
        <p:nvSpPr>
          <p:cNvPr id="12" name="Text 10"/>
          <p:cNvSpPr/>
          <p:nvPr/>
        </p:nvSpPr>
        <p:spPr>
          <a:xfrm>
            <a:off x="502920" y="2103120"/>
            <a:ext cx="274320" cy="274320"/>
          </a:xfrm>
          <a:prstGeom prst="rect">
            <a:avLst/>
          </a:prstGeom>
          <a:noFill/>
          <a:ln/>
        </p:spPr>
        <p:txBody>
          <a:bodyPr wrap="square" lIns="0" tIns="0" rIns="0" bIns="0" rtlCol="0" anchor="ctr"/>
          <a:lstStyle/>
          <a:p>
            <a:pPr algn="ctr" indent="0" marL="0">
              <a:buNone/>
            </a:pPr>
            <a:r>
              <a:rPr lang="en-US" sz="1000" b="1" dirty="0">
                <a:solidFill>
                  <a:srgbClr val="8A3A3A"/>
                </a:solidFill>
              </a:rPr>
              <a:t>✕</a:t>
            </a:r>
            <a:endParaRPr lang="en-US" sz="1000" dirty="0"/>
          </a:p>
        </p:txBody>
      </p:sp>
      <p:sp>
        <p:nvSpPr>
          <p:cNvPr id="13" name="Text 11"/>
          <p:cNvSpPr/>
          <p:nvPr/>
        </p:nvSpPr>
        <p:spPr>
          <a:xfrm>
            <a:off x="914400" y="1947672"/>
            <a:ext cx="3840480" cy="27432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Bank Fraud Warnings</a:t>
            </a:r>
            <a:endParaRPr lang="en-US" sz="1200" dirty="0"/>
          </a:p>
        </p:txBody>
      </p:sp>
      <p:sp>
        <p:nvSpPr>
          <p:cNvPr id="14" name="Text 12"/>
          <p:cNvSpPr/>
          <p:nvPr/>
        </p:nvSpPr>
        <p:spPr>
          <a:xfrm>
            <a:off x="914400" y="2240280"/>
            <a:ext cx="3840480" cy="274320"/>
          </a:xfrm>
          <a:prstGeom prst="rect">
            <a:avLst/>
          </a:prstGeom>
          <a:noFill/>
          <a:ln/>
        </p:spPr>
        <p:txBody>
          <a:bodyPr wrap="square" lIns="0" tIns="0" rIns="0" bIns="0" rtlCol="0" anchor="ctr"/>
          <a:lstStyle/>
          <a:p>
            <a:pPr indent="0" marL="0">
              <a:buNone/>
            </a:pPr>
            <a:r>
              <a:rPr lang="en-US" sz="1050" dirty="0">
                <a:solidFill>
                  <a:srgbClr val="4D5A6B"/>
                </a:solidFill>
                <a:latin typeface="Calibri" pitchFamily="34" charset="0"/>
                <a:ea typeface="Calibri" pitchFamily="34" charset="-122"/>
                <a:cs typeface="Calibri" pitchFamily="34" charset="-120"/>
              </a:rPr>
              <a:t>Generic popups dismissed instantly. No intervention.</a:t>
            </a:r>
            <a:endParaRPr lang="en-US" sz="1050" dirty="0"/>
          </a:p>
        </p:txBody>
      </p:sp>
      <p:sp>
        <p:nvSpPr>
          <p:cNvPr id="15" name="Shape 13"/>
          <p:cNvSpPr/>
          <p:nvPr/>
        </p:nvSpPr>
        <p:spPr>
          <a:xfrm>
            <a:off x="365760" y="2706624"/>
            <a:ext cx="4572000" cy="685800"/>
          </a:xfrm>
          <a:prstGeom prst="roundRect">
            <a:avLst>
              <a:gd name="adj" fmla="val 13333"/>
            </a:avLst>
          </a:prstGeom>
          <a:solidFill>
            <a:srgbClr val="FFFFFF"/>
          </a:solidFill>
          <a:ln w="12700">
            <a:solidFill>
              <a:srgbClr val="E0E0F0"/>
            </a:solidFill>
            <a:prstDash val="solid"/>
          </a:ln>
          <a:effectLst>
            <a:outerShdw sx="100000" sy="100000" kx="0" ky="0" algn="bl" rotWithShape="0" blurRad="76200" dist="25400" dir="5400000">
              <a:srgbClr val="000000">
                <a:alpha val="6000"/>
              </a:srgbClr>
            </a:outerShdw>
          </a:effectLst>
        </p:spPr>
      </p:sp>
      <p:sp>
        <p:nvSpPr>
          <p:cNvPr id="16" name="Shape 14"/>
          <p:cNvSpPr/>
          <p:nvPr/>
        </p:nvSpPr>
        <p:spPr>
          <a:xfrm>
            <a:off x="502920" y="2907792"/>
            <a:ext cx="274320" cy="274320"/>
          </a:xfrm>
          <a:prstGeom prst="ellipse">
            <a:avLst/>
          </a:prstGeom>
          <a:solidFill>
            <a:srgbClr val="EAD7D7"/>
          </a:solidFill>
          <a:ln w="12700">
            <a:solidFill>
              <a:srgbClr val="EAD7D7"/>
            </a:solidFill>
            <a:prstDash val="solid"/>
          </a:ln>
        </p:spPr>
      </p:sp>
      <p:sp>
        <p:nvSpPr>
          <p:cNvPr id="17" name="Text 15"/>
          <p:cNvSpPr/>
          <p:nvPr/>
        </p:nvSpPr>
        <p:spPr>
          <a:xfrm>
            <a:off x="502920" y="2907792"/>
            <a:ext cx="274320" cy="274320"/>
          </a:xfrm>
          <a:prstGeom prst="rect">
            <a:avLst/>
          </a:prstGeom>
          <a:noFill/>
          <a:ln/>
        </p:spPr>
        <p:txBody>
          <a:bodyPr wrap="square" lIns="0" tIns="0" rIns="0" bIns="0" rtlCol="0" anchor="ctr"/>
          <a:lstStyle/>
          <a:p>
            <a:pPr algn="ctr" indent="0" marL="0">
              <a:buNone/>
            </a:pPr>
            <a:r>
              <a:rPr lang="en-US" sz="1000" b="1" dirty="0">
                <a:solidFill>
                  <a:srgbClr val="8A3A3A"/>
                </a:solidFill>
              </a:rPr>
              <a:t>✕</a:t>
            </a:r>
            <a:endParaRPr lang="en-US" sz="1000" dirty="0"/>
          </a:p>
        </p:txBody>
      </p:sp>
      <p:sp>
        <p:nvSpPr>
          <p:cNvPr id="18" name="Text 16"/>
          <p:cNvSpPr/>
          <p:nvPr/>
        </p:nvSpPr>
        <p:spPr>
          <a:xfrm>
            <a:off x="914400" y="2752344"/>
            <a:ext cx="3840480" cy="27432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WhatsApp Check Bots</a:t>
            </a:r>
            <a:endParaRPr lang="en-US" sz="1200" dirty="0"/>
          </a:p>
        </p:txBody>
      </p:sp>
      <p:sp>
        <p:nvSpPr>
          <p:cNvPr id="19" name="Text 17"/>
          <p:cNvSpPr/>
          <p:nvPr/>
        </p:nvSpPr>
        <p:spPr>
          <a:xfrm>
            <a:off x="914400" y="3044952"/>
            <a:ext cx="3840480" cy="274320"/>
          </a:xfrm>
          <a:prstGeom prst="rect">
            <a:avLst/>
          </a:prstGeom>
          <a:noFill/>
          <a:ln/>
        </p:spPr>
        <p:txBody>
          <a:bodyPr wrap="square" lIns="0" tIns="0" rIns="0" bIns="0" rtlCol="0" anchor="ctr"/>
          <a:lstStyle/>
          <a:p>
            <a:pPr indent="0" marL="0">
              <a:buNone/>
            </a:pPr>
            <a:r>
              <a:rPr lang="en-US" sz="1050" dirty="0">
                <a:solidFill>
                  <a:srgbClr val="4D5A6B"/>
                </a:solidFill>
                <a:latin typeface="Calibri" pitchFamily="34" charset="0"/>
                <a:ea typeface="Calibri" pitchFamily="34" charset="-122"/>
                <a:cs typeface="Calibri" pitchFamily="34" charset="-120"/>
              </a:rPr>
              <a:t>Only works if the user is already suspicious.</a:t>
            </a:r>
            <a:endParaRPr lang="en-US" sz="1050" dirty="0"/>
          </a:p>
        </p:txBody>
      </p:sp>
      <p:sp>
        <p:nvSpPr>
          <p:cNvPr id="20" name="Shape 18"/>
          <p:cNvSpPr/>
          <p:nvPr/>
        </p:nvSpPr>
        <p:spPr>
          <a:xfrm>
            <a:off x="365760" y="3511296"/>
            <a:ext cx="4572000" cy="685800"/>
          </a:xfrm>
          <a:prstGeom prst="roundRect">
            <a:avLst>
              <a:gd name="adj" fmla="val 13333"/>
            </a:avLst>
          </a:prstGeom>
          <a:solidFill>
            <a:srgbClr val="FFFFFF"/>
          </a:solidFill>
          <a:ln w="12700">
            <a:solidFill>
              <a:srgbClr val="E0E0F0"/>
            </a:solidFill>
            <a:prstDash val="solid"/>
          </a:ln>
          <a:effectLst>
            <a:outerShdw sx="100000" sy="100000" kx="0" ky="0" algn="bl" rotWithShape="0" blurRad="76200" dist="25400" dir="5400000">
              <a:srgbClr val="000000">
                <a:alpha val="6000"/>
              </a:srgbClr>
            </a:outerShdw>
          </a:effectLst>
        </p:spPr>
      </p:sp>
      <p:sp>
        <p:nvSpPr>
          <p:cNvPr id="21" name="Shape 19"/>
          <p:cNvSpPr/>
          <p:nvPr/>
        </p:nvSpPr>
        <p:spPr>
          <a:xfrm>
            <a:off x="502920" y="3712464"/>
            <a:ext cx="274320" cy="274320"/>
          </a:xfrm>
          <a:prstGeom prst="ellipse">
            <a:avLst/>
          </a:prstGeom>
          <a:solidFill>
            <a:srgbClr val="EAD7D7"/>
          </a:solidFill>
          <a:ln w="12700">
            <a:solidFill>
              <a:srgbClr val="EAD7D7"/>
            </a:solidFill>
            <a:prstDash val="solid"/>
          </a:ln>
        </p:spPr>
      </p:sp>
      <p:sp>
        <p:nvSpPr>
          <p:cNvPr id="22" name="Text 20"/>
          <p:cNvSpPr/>
          <p:nvPr/>
        </p:nvSpPr>
        <p:spPr>
          <a:xfrm>
            <a:off x="502920" y="3712464"/>
            <a:ext cx="274320" cy="274320"/>
          </a:xfrm>
          <a:prstGeom prst="rect">
            <a:avLst/>
          </a:prstGeom>
          <a:noFill/>
          <a:ln/>
        </p:spPr>
        <p:txBody>
          <a:bodyPr wrap="square" lIns="0" tIns="0" rIns="0" bIns="0" rtlCol="0" anchor="ctr"/>
          <a:lstStyle/>
          <a:p>
            <a:pPr algn="ctr" indent="0" marL="0">
              <a:buNone/>
            </a:pPr>
            <a:r>
              <a:rPr lang="en-US" sz="1000" b="1" dirty="0">
                <a:solidFill>
                  <a:srgbClr val="8A3A3A"/>
                </a:solidFill>
              </a:rPr>
              <a:t>✕</a:t>
            </a:r>
            <a:endParaRPr lang="en-US" sz="1000" dirty="0"/>
          </a:p>
        </p:txBody>
      </p:sp>
      <p:sp>
        <p:nvSpPr>
          <p:cNvPr id="23" name="Text 21"/>
          <p:cNvSpPr/>
          <p:nvPr/>
        </p:nvSpPr>
        <p:spPr>
          <a:xfrm>
            <a:off x="914400" y="3557016"/>
            <a:ext cx="3840480" cy="27432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1930 Helpline</a:t>
            </a:r>
            <a:endParaRPr lang="en-US" sz="1200" dirty="0"/>
          </a:p>
        </p:txBody>
      </p:sp>
      <p:sp>
        <p:nvSpPr>
          <p:cNvPr id="24" name="Text 22"/>
          <p:cNvSpPr/>
          <p:nvPr/>
        </p:nvSpPr>
        <p:spPr>
          <a:xfrm>
            <a:off x="914400" y="3849624"/>
            <a:ext cx="3840480" cy="274320"/>
          </a:xfrm>
          <a:prstGeom prst="rect">
            <a:avLst/>
          </a:prstGeom>
          <a:noFill/>
          <a:ln/>
        </p:spPr>
        <p:txBody>
          <a:bodyPr wrap="square" lIns="0" tIns="0" rIns="0" bIns="0" rtlCol="0" anchor="ctr"/>
          <a:lstStyle/>
          <a:p>
            <a:pPr indent="0" marL="0">
              <a:buNone/>
            </a:pPr>
            <a:r>
              <a:rPr lang="en-US" sz="1050" dirty="0">
                <a:solidFill>
                  <a:srgbClr val="4D5A6B"/>
                </a:solidFill>
                <a:latin typeface="Calibri" pitchFamily="34" charset="0"/>
                <a:ea typeface="Calibri" pitchFamily="34" charset="-122"/>
                <a:cs typeface="Calibri" pitchFamily="34" charset="-120"/>
              </a:rPr>
              <a:t>Reactive — money is typically gone before you call.</a:t>
            </a:r>
            <a:endParaRPr lang="en-US" sz="1050" dirty="0"/>
          </a:p>
        </p:txBody>
      </p:sp>
      <p:sp>
        <p:nvSpPr>
          <p:cNvPr id="25" name="Shape 23"/>
          <p:cNvSpPr/>
          <p:nvPr/>
        </p:nvSpPr>
        <p:spPr>
          <a:xfrm>
            <a:off x="5166360" y="1097280"/>
            <a:ext cx="3611880" cy="3218688"/>
          </a:xfrm>
          <a:prstGeom prst="roundRect">
            <a:avLst>
              <a:gd name="adj" fmla="val 4261"/>
            </a:avLst>
          </a:prstGeom>
          <a:solidFill>
            <a:srgbClr val="9C7A3C"/>
          </a:solidFill>
          <a:ln w="12700">
            <a:solidFill>
              <a:srgbClr val="9C7A3C"/>
            </a:solidFill>
            <a:prstDash val="solid"/>
          </a:ln>
        </p:spPr>
      </p:sp>
      <p:sp>
        <p:nvSpPr>
          <p:cNvPr id="26" name="Text 24"/>
          <p:cNvSpPr/>
          <p:nvPr/>
        </p:nvSpPr>
        <p:spPr>
          <a:xfrm>
            <a:off x="5349240" y="1261872"/>
            <a:ext cx="324612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Cambria" pitchFamily="34" charset="0"/>
                <a:ea typeface="Cambria" pitchFamily="34" charset="-122"/>
                <a:cs typeface="Cambria" pitchFamily="34" charset="-120"/>
              </a:rPr>
              <a:t>The Real Insight</a:t>
            </a:r>
            <a:endParaRPr lang="en-US" sz="1500" dirty="0"/>
          </a:p>
        </p:txBody>
      </p:sp>
      <p:sp>
        <p:nvSpPr>
          <p:cNvPr id="27" name="Text 25"/>
          <p:cNvSpPr/>
          <p:nvPr/>
        </p:nvSpPr>
        <p:spPr>
          <a:xfrm>
            <a:off x="5349240" y="1737360"/>
            <a:ext cx="3246120" cy="2423160"/>
          </a:xfrm>
          <a:prstGeom prst="rect">
            <a:avLst/>
          </a:prstGeom>
          <a:noFill/>
          <a:ln/>
        </p:spPr>
        <p:txBody>
          <a:bodyPr wrap="square" lIns="0" tIns="0" rIns="0" bIns="0" rtlCol="0" anchor="ctr"/>
          <a:lstStyle/>
          <a:p>
            <a:pPr indent="0" marL="0">
              <a:buNone/>
            </a:pPr>
            <a:r>
              <a:rPr lang="en-US" sz="1100" dirty="0">
                <a:solidFill>
                  <a:srgbClr val="FFE8F0"/>
                </a:solidFill>
                <a:latin typeface="Calibri" pitchFamily="34" charset="0"/>
                <a:ea typeface="Calibri" pitchFamily="34" charset="-122"/>
                <a:cs typeface="Calibri" pitchFamily="34" charset="-120"/>
              </a:rPr>
              <a:t>Scams don't succeed because victims are careless.</a:t>
            </a:r>
            <a:endParaRPr lang="en-US" sz="1100" dirty="0"/>
          </a:p>
          <a:p>
            <a:pPr indent="0" marL="0">
              <a:buNone/>
            </a:pPr>
            <a:endParaRPr lang="en-US" sz="1100" dirty="0"/>
          </a:p>
          <a:p>
            <a:pPr indent="0" marL="0">
              <a:buNone/>
            </a:pPr>
            <a:r>
              <a:rPr lang="en-US" sz="1100" dirty="0">
                <a:solidFill>
                  <a:srgbClr val="FFE8F0"/>
                </a:solidFill>
                <a:latin typeface="Calibri" pitchFamily="34" charset="0"/>
                <a:ea typeface="Calibri" pitchFamily="34" charset="-122"/>
                <a:cs typeface="Calibri" pitchFamily="34" charset="-120"/>
              </a:rPr>
              <a:t>They succeed because victims are deliberately isolated.</a:t>
            </a:r>
            <a:endParaRPr lang="en-US" sz="1100" dirty="0"/>
          </a:p>
          <a:p>
            <a:pPr indent="0" marL="0">
              <a:buNone/>
            </a:pPr>
            <a:endParaRPr lang="en-US" sz="1100" dirty="0"/>
          </a:p>
          <a:p>
            <a:pPr indent="0" marL="0">
              <a:buNone/>
            </a:pPr>
            <a:r>
              <a:rPr lang="en-US" sz="1100" dirty="0">
                <a:solidFill>
                  <a:srgbClr val="FFE8F0"/>
                </a:solidFill>
                <a:latin typeface="Calibri" pitchFamily="34" charset="0"/>
                <a:ea typeface="Calibri" pitchFamily="34" charset="-122"/>
                <a:cs typeface="Calibri" pitchFamily="34" charset="-120"/>
              </a:rPr>
              <a:t>79% of Indians trust government authority — scammers exploit this with fake officials, manufactured fear, and urgency.</a:t>
            </a:r>
            <a:endParaRPr lang="en-US" sz="1100" dirty="0"/>
          </a:p>
          <a:p>
            <a:pPr indent="0" marL="0">
              <a:buNone/>
            </a:pPr>
            <a:endParaRPr lang="en-US" sz="1100" dirty="0"/>
          </a:p>
          <a:p>
            <a:pPr indent="0" marL="0">
              <a:buNone/>
            </a:pPr>
            <a:r>
              <a:rPr lang="en-US" sz="1100" dirty="0">
                <a:solidFill>
                  <a:srgbClr val="FFE8F0"/>
                </a:solidFill>
                <a:latin typeface="Calibri" pitchFamily="34" charset="0"/>
                <a:ea typeface="Calibri" pitchFamily="34" charset="-122"/>
                <a:cs typeface="Calibri" pitchFamily="34" charset="-120"/>
              </a:rPr>
              <a:t>More warnings won't help.</a:t>
            </a:r>
            <a:endParaRPr lang="en-US" sz="1100" dirty="0"/>
          </a:p>
          <a:p>
            <a:pPr indent="0" marL="0">
              <a:buNone/>
            </a:pPr>
            <a:r>
              <a:rPr lang="en-US" sz="1100" dirty="0">
                <a:solidFill>
                  <a:srgbClr val="FFE8F0"/>
                </a:solidFill>
                <a:latin typeface="Calibri" pitchFamily="34" charset="0"/>
                <a:ea typeface="Calibri" pitchFamily="34" charset="-122"/>
                <a:cs typeface="Calibri" pitchFamily="34" charset="-120"/>
              </a:rPr>
              <a:t>Breaking isolation before the money moves will.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02920" y="320040"/>
            <a:ext cx="822960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THE SOLUTION</a:t>
            </a:r>
            <a:endParaRPr lang="en-US" sz="2400" dirty="0"/>
          </a:p>
        </p:txBody>
      </p:sp>
      <p:sp>
        <p:nvSpPr>
          <p:cNvPr id="3" name="Text 1"/>
          <p:cNvSpPr/>
          <p:nvPr/>
        </p:nvSpPr>
        <p:spPr>
          <a:xfrm>
            <a:off x="502920" y="822960"/>
            <a:ext cx="8229600" cy="320040"/>
          </a:xfrm>
          <a:prstGeom prst="rect">
            <a:avLst/>
          </a:prstGeom>
          <a:noFill/>
          <a:ln/>
        </p:spPr>
        <p:txBody>
          <a:bodyPr wrap="square" lIns="0" tIns="0" rIns="0" bIns="0" rtlCol="0" anchor="ctr"/>
          <a:lstStyle/>
          <a:p>
            <a:pPr algn="l" indent="0" marL="0">
              <a:buNone/>
            </a:pPr>
            <a:r>
              <a:rPr lang="en-US" sz="1300" dirty="0">
                <a:solidFill>
                  <a:srgbClr val="9AA6B2"/>
                </a:solidFill>
                <a:latin typeface="Calibri" pitchFamily="34" charset="0"/>
                <a:ea typeface="Calibri" pitchFamily="34" charset="-122"/>
                <a:cs typeface="Calibri" pitchFamily="34" charset="-120"/>
              </a:rPr>
              <a:t>Kavach 2.0 — The Trusted Circle Agent</a:t>
            </a:r>
            <a:endParaRPr lang="en-US" sz="1300" dirty="0"/>
          </a:p>
        </p:txBody>
      </p:sp>
      <p:sp>
        <p:nvSpPr>
          <p:cNvPr id="4" name="Shape 2"/>
          <p:cNvSpPr/>
          <p:nvPr/>
        </p:nvSpPr>
        <p:spPr>
          <a:xfrm>
            <a:off x="502920" y="1170432"/>
            <a:ext cx="8138160" cy="27432"/>
          </a:xfrm>
          <a:prstGeom prst="rect">
            <a:avLst/>
          </a:prstGeom>
          <a:solidFill>
            <a:srgbClr val="2B3F58"/>
          </a:solidFill>
          <a:ln w="12700">
            <a:solidFill>
              <a:srgbClr val="2B3F58"/>
            </a:solidFill>
            <a:prstDash val="solid"/>
          </a:ln>
        </p:spPr>
      </p:sp>
      <p:sp>
        <p:nvSpPr>
          <p:cNvPr id="5" name="Shape 3"/>
          <p:cNvSpPr/>
          <p:nvPr/>
        </p:nvSpPr>
        <p:spPr>
          <a:xfrm>
            <a:off x="365760" y="1280160"/>
            <a:ext cx="2743200" cy="3520440"/>
          </a:xfrm>
          <a:prstGeom prst="roundRect">
            <a:avLst>
              <a:gd name="adj" fmla="val 5000"/>
            </a:avLst>
          </a:prstGeom>
          <a:solidFill>
            <a:srgbClr val="2B3F58"/>
          </a:solidFill>
          <a:ln w="12700">
            <a:solidFill>
              <a:srgbClr val="2B3F58"/>
            </a:solidFill>
            <a:prstDash val="solid"/>
          </a:ln>
        </p:spPr>
      </p:sp>
      <p:sp>
        <p:nvSpPr>
          <p:cNvPr id="6" name="Shape 4"/>
          <p:cNvSpPr/>
          <p:nvPr/>
        </p:nvSpPr>
        <p:spPr>
          <a:xfrm>
            <a:off x="548640" y="1444752"/>
            <a:ext cx="475488" cy="475488"/>
          </a:xfrm>
          <a:prstGeom prst="ellipse">
            <a:avLst/>
          </a:prstGeom>
          <a:solidFill>
            <a:srgbClr val="9C7A3C"/>
          </a:solidFill>
          <a:ln w="12700">
            <a:solidFill>
              <a:srgbClr val="9C7A3C"/>
            </a:solidFill>
            <a:prstDash val="solid"/>
          </a:ln>
        </p:spPr>
      </p:sp>
      <p:sp>
        <p:nvSpPr>
          <p:cNvPr id="7" name="Text 5"/>
          <p:cNvSpPr/>
          <p:nvPr/>
        </p:nvSpPr>
        <p:spPr>
          <a:xfrm>
            <a:off x="548640" y="144475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8" name="Text 6"/>
          <p:cNvSpPr/>
          <p:nvPr/>
        </p:nvSpPr>
        <p:spPr>
          <a:xfrm>
            <a:off x="1115568" y="1508760"/>
            <a:ext cx="18288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DETECT</a:t>
            </a:r>
            <a:endParaRPr lang="en-US" sz="1300" dirty="0"/>
          </a:p>
        </p:txBody>
      </p:sp>
      <p:sp>
        <p:nvSpPr>
          <p:cNvPr id="9" name="Text 7"/>
          <p:cNvSpPr/>
          <p:nvPr/>
        </p:nvSpPr>
        <p:spPr>
          <a:xfrm>
            <a:off x="548640" y="2084832"/>
            <a:ext cx="2377440" cy="2514600"/>
          </a:xfrm>
          <a:prstGeom prst="rect">
            <a:avLst/>
          </a:prstGeom>
          <a:noFill/>
          <a:ln/>
        </p:spPr>
        <p:txBody>
          <a:bodyPr wrap="square" lIns="0" tIns="0" rIns="0" bIns="0" rtlCol="0" anchor="ctr"/>
          <a:lstStyle/>
          <a:p>
            <a:pPr algn="l" indent="0" marL="0">
              <a:buNone/>
            </a:pPr>
            <a:r>
              <a:rPr lang="en-US" sz="1050" dirty="0">
                <a:solidFill>
                  <a:srgbClr val="BBBBCC"/>
                </a:solidFill>
                <a:latin typeface="Calibri" pitchFamily="34" charset="0"/>
                <a:ea typeface="Calibri" pitchFamily="34" charset="-122"/>
                <a:cs typeface="Calibri" pitchFamily="34" charset="-120"/>
              </a:rPr>
              <a:t>When a UPI transfer is initiated to a new/unknown recipient, Kavach starts a short conversational check in the user's language:</a:t>
            </a:r>
            <a:endParaRPr lang="en-US" sz="1050" dirty="0"/>
          </a:p>
          <a:p>
            <a:pPr algn="l" indent="0" marL="0">
              <a:buNone/>
            </a:pPr>
            <a:r>
              <a:rPr lang="en-US" sz="1050" dirty="0">
                <a:solidFill>
                  <a:srgbClr val="BBBBCC"/>
                </a:solidFill>
                <a:latin typeface="Calibri" pitchFamily="34" charset="0"/>
                <a:ea typeface="Calibri" pitchFamily="34" charset="-122"/>
                <a:cs typeface="Calibri" pitchFamily="34" charset="-120"/>
              </a:rPr>
              <a:t>"Kya aapko kisi ne daraya hai?"</a:t>
            </a:r>
            <a:endParaRPr lang="en-US" sz="1050" dirty="0"/>
          </a:p>
          <a:p>
            <a:pPr algn="l" indent="0" marL="0">
              <a:buNone/>
            </a:pPr>
            <a:r>
              <a:rPr lang="en-US" sz="1050" dirty="0">
                <a:solidFill>
                  <a:srgbClr val="BBBBCC"/>
                </a:solidFill>
                <a:latin typeface="Calibri" pitchFamily="34" charset="0"/>
                <a:ea typeface="Calibri" pitchFamily="34" charset="-122"/>
                <a:cs typeface="Calibri" pitchFamily="34" charset="-120"/>
              </a:rPr>
              <a:t>It analyses tone, urgency signals — not just metadata.</a:t>
            </a:r>
            <a:endParaRPr lang="en-US" sz="1050" dirty="0"/>
          </a:p>
        </p:txBody>
      </p:sp>
      <p:sp>
        <p:nvSpPr>
          <p:cNvPr id="10" name="Shape 8"/>
          <p:cNvSpPr/>
          <p:nvPr/>
        </p:nvSpPr>
        <p:spPr>
          <a:xfrm>
            <a:off x="3246120" y="1280160"/>
            <a:ext cx="2743200" cy="3520440"/>
          </a:xfrm>
          <a:prstGeom prst="roundRect">
            <a:avLst>
              <a:gd name="adj" fmla="val 5000"/>
            </a:avLst>
          </a:prstGeom>
          <a:solidFill>
            <a:srgbClr val="2B3F58"/>
          </a:solidFill>
          <a:ln w="12700">
            <a:solidFill>
              <a:srgbClr val="2B3F58"/>
            </a:solidFill>
            <a:prstDash val="solid"/>
          </a:ln>
        </p:spPr>
      </p:sp>
      <p:sp>
        <p:nvSpPr>
          <p:cNvPr id="11" name="Shape 9"/>
          <p:cNvSpPr/>
          <p:nvPr/>
        </p:nvSpPr>
        <p:spPr>
          <a:xfrm>
            <a:off x="3429000" y="1444752"/>
            <a:ext cx="475488" cy="475488"/>
          </a:xfrm>
          <a:prstGeom prst="ellipse">
            <a:avLst/>
          </a:prstGeom>
          <a:solidFill>
            <a:srgbClr val="9C7A3C"/>
          </a:solidFill>
          <a:ln w="12700">
            <a:solidFill>
              <a:srgbClr val="9C7A3C"/>
            </a:solidFill>
            <a:prstDash val="solid"/>
          </a:ln>
        </p:spPr>
      </p:sp>
      <p:sp>
        <p:nvSpPr>
          <p:cNvPr id="12" name="Text 10"/>
          <p:cNvSpPr/>
          <p:nvPr/>
        </p:nvSpPr>
        <p:spPr>
          <a:xfrm>
            <a:off x="3429000" y="144475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3" name="Text 11"/>
          <p:cNvSpPr/>
          <p:nvPr/>
        </p:nvSpPr>
        <p:spPr>
          <a:xfrm>
            <a:off x="3995928" y="1508760"/>
            <a:ext cx="18288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BREAK ISOLATION</a:t>
            </a:r>
            <a:endParaRPr lang="en-US" sz="1300" dirty="0"/>
          </a:p>
        </p:txBody>
      </p:sp>
      <p:sp>
        <p:nvSpPr>
          <p:cNvPr id="14" name="Text 12"/>
          <p:cNvSpPr/>
          <p:nvPr/>
        </p:nvSpPr>
        <p:spPr>
          <a:xfrm>
            <a:off x="3429000" y="2084832"/>
            <a:ext cx="2377440" cy="2514600"/>
          </a:xfrm>
          <a:prstGeom prst="rect">
            <a:avLst/>
          </a:prstGeom>
          <a:noFill/>
          <a:ln/>
        </p:spPr>
        <p:txBody>
          <a:bodyPr wrap="square" lIns="0" tIns="0" rIns="0" bIns="0" rtlCol="0" anchor="ctr"/>
          <a:lstStyle/>
          <a:p>
            <a:pPr algn="l" indent="0" marL="0">
              <a:buNone/>
            </a:pPr>
            <a:r>
              <a:rPr lang="en-US" sz="1050" dirty="0">
                <a:solidFill>
                  <a:srgbClr val="BBBBCC"/>
                </a:solidFill>
                <a:latin typeface="Calibri" pitchFamily="34" charset="0"/>
                <a:ea typeface="Calibri" pitchFamily="34" charset="-122"/>
                <a:cs typeface="Calibri" pitchFamily="34" charset="-120"/>
              </a:rPr>
              <a:t>If coercion signals are detected, the agent silently alerts a pre-set Trusted Contact:</a:t>
            </a:r>
            <a:endParaRPr lang="en-US" sz="1050" dirty="0"/>
          </a:p>
          <a:p>
            <a:pPr algn="l" indent="0" marL="0">
              <a:buNone/>
            </a:pPr>
            <a:r>
              <a:rPr lang="en-US" sz="1050" dirty="0">
                <a:solidFill>
                  <a:srgbClr val="BBBBCC"/>
                </a:solidFill>
                <a:latin typeface="Calibri" pitchFamily="34" charset="0"/>
                <a:ea typeface="Calibri" pitchFamily="34" charset="-122"/>
                <a:cs typeface="Calibri" pitchFamily="34" charset="-120"/>
              </a:rPr>
              <a:t>"Your mother is about to send ₹15,000 under possible pressure. Call her now."</a:t>
            </a:r>
            <a:endParaRPr lang="en-US" sz="1050" dirty="0"/>
          </a:p>
          <a:p>
            <a:pPr algn="l" indent="0" marL="0">
              <a:buNone/>
            </a:pPr>
            <a:r>
              <a:rPr lang="en-US" sz="1050" dirty="0">
                <a:solidFill>
                  <a:srgbClr val="BBBBCC"/>
                </a:solidFill>
                <a:latin typeface="Calibri" pitchFamily="34" charset="0"/>
                <a:ea typeface="Calibri" pitchFamily="34" charset="-122"/>
                <a:cs typeface="Calibri" pitchFamily="34" charset="-120"/>
              </a:rPr>
              <a:t>Aligned with RBI's 2026 trusted-person approval proposal.</a:t>
            </a:r>
            <a:endParaRPr lang="en-US" sz="1050" dirty="0"/>
          </a:p>
        </p:txBody>
      </p:sp>
      <p:sp>
        <p:nvSpPr>
          <p:cNvPr id="15" name="Shape 13"/>
          <p:cNvSpPr/>
          <p:nvPr/>
        </p:nvSpPr>
        <p:spPr>
          <a:xfrm>
            <a:off x="6126480" y="1280160"/>
            <a:ext cx="2743200" cy="3520440"/>
          </a:xfrm>
          <a:prstGeom prst="roundRect">
            <a:avLst>
              <a:gd name="adj" fmla="val 5000"/>
            </a:avLst>
          </a:prstGeom>
          <a:solidFill>
            <a:srgbClr val="2B3F58"/>
          </a:solidFill>
          <a:ln w="12700">
            <a:solidFill>
              <a:srgbClr val="2B3F58"/>
            </a:solidFill>
            <a:prstDash val="solid"/>
          </a:ln>
        </p:spPr>
      </p:sp>
      <p:sp>
        <p:nvSpPr>
          <p:cNvPr id="16" name="Shape 14"/>
          <p:cNvSpPr/>
          <p:nvPr/>
        </p:nvSpPr>
        <p:spPr>
          <a:xfrm>
            <a:off x="6309360" y="1444752"/>
            <a:ext cx="475488" cy="475488"/>
          </a:xfrm>
          <a:prstGeom prst="ellipse">
            <a:avLst/>
          </a:prstGeom>
          <a:solidFill>
            <a:srgbClr val="9C7A3C"/>
          </a:solidFill>
          <a:ln w="12700">
            <a:solidFill>
              <a:srgbClr val="9C7A3C"/>
            </a:solidFill>
            <a:prstDash val="solid"/>
          </a:ln>
        </p:spPr>
      </p:sp>
      <p:sp>
        <p:nvSpPr>
          <p:cNvPr id="17" name="Text 15"/>
          <p:cNvSpPr/>
          <p:nvPr/>
        </p:nvSpPr>
        <p:spPr>
          <a:xfrm>
            <a:off x="6309360" y="1444752"/>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18" name="Text 16"/>
          <p:cNvSpPr/>
          <p:nvPr/>
        </p:nvSpPr>
        <p:spPr>
          <a:xfrm>
            <a:off x="6876288" y="1508760"/>
            <a:ext cx="1828800"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RECOVER</a:t>
            </a:r>
            <a:endParaRPr lang="en-US" sz="1300" dirty="0"/>
          </a:p>
        </p:txBody>
      </p:sp>
      <p:sp>
        <p:nvSpPr>
          <p:cNvPr id="19" name="Text 17"/>
          <p:cNvSpPr/>
          <p:nvPr/>
        </p:nvSpPr>
        <p:spPr>
          <a:xfrm>
            <a:off x="6309360" y="2084832"/>
            <a:ext cx="2377440" cy="2514600"/>
          </a:xfrm>
          <a:prstGeom prst="rect">
            <a:avLst/>
          </a:prstGeom>
          <a:noFill/>
          <a:ln/>
        </p:spPr>
        <p:txBody>
          <a:bodyPr wrap="square" lIns="0" tIns="0" rIns="0" bIns="0" rtlCol="0" anchor="ctr"/>
          <a:lstStyle/>
          <a:p>
            <a:pPr algn="l" indent="0" marL="0">
              <a:buNone/>
            </a:pPr>
            <a:r>
              <a:rPr lang="en-US" sz="1050" dirty="0">
                <a:solidFill>
                  <a:srgbClr val="BBBBCC"/>
                </a:solidFill>
                <a:latin typeface="Calibri" pitchFamily="34" charset="0"/>
                <a:ea typeface="Calibri" pitchFamily="34" charset="-122"/>
                <a:cs typeface="Calibri" pitchFamily="34" charset="-120"/>
              </a:rPr>
              <a:t>If fraud is confirmed, the agent autonomously:</a:t>
            </a:r>
            <a:endParaRPr lang="en-US" sz="1050" dirty="0"/>
          </a:p>
          <a:p>
            <a:pPr algn="l" indent="0" marL="0">
              <a:buNone/>
            </a:pPr>
            <a:r>
              <a:rPr lang="en-US" sz="1050" dirty="0">
                <a:solidFill>
                  <a:srgbClr val="BBBBCC"/>
                </a:solidFill>
                <a:latin typeface="Calibri" pitchFamily="34" charset="0"/>
                <a:ea typeface="Calibri" pitchFamily="34" charset="-122"/>
                <a:cs typeface="Calibri" pitchFamily="34" charset="-120"/>
              </a:rPr>
              <a:t>• Drafts cybercrime.gov.in complaint</a:t>
            </a:r>
            <a:endParaRPr lang="en-US" sz="1050" dirty="0"/>
          </a:p>
          <a:p>
            <a:pPr algn="l" indent="0" marL="0">
              <a:buNone/>
            </a:pPr>
            <a:r>
              <a:rPr lang="en-US" sz="1050" dirty="0">
                <a:solidFill>
                  <a:srgbClr val="BBBBCC"/>
                </a:solidFill>
                <a:latin typeface="Calibri" pitchFamily="34" charset="0"/>
                <a:ea typeface="Calibri" pitchFamily="34" charset="-122"/>
                <a:cs typeface="Calibri" pitchFamily="34" charset="-120"/>
              </a:rPr>
              <a:t>• Sends 1930 helpline instructions</a:t>
            </a:r>
            <a:endParaRPr lang="en-US" sz="1050" dirty="0"/>
          </a:p>
          <a:p>
            <a:pPr algn="l" indent="0" marL="0">
              <a:buNone/>
            </a:pPr>
            <a:r>
              <a:rPr lang="en-US" sz="1050" dirty="0">
                <a:solidFill>
                  <a:srgbClr val="BBBBCC"/>
                </a:solidFill>
                <a:latin typeface="Calibri" pitchFamily="34" charset="0"/>
                <a:ea typeface="Calibri" pitchFamily="34" charset="-122"/>
                <a:cs typeface="Calibri" pitchFamily="34" charset="-120"/>
              </a:rPr>
              <a:t>• Guides step-by-step in Hindi / Telugu / Tamil via BHASHINI</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1"/>
          </a:solidFill>
          <a:ln w="12700">
            <a:solidFill>
              <a:srgbClr val="1B2A41"/>
            </a:solidFill>
            <a:prstDash val="solid"/>
          </a:ln>
        </p:spPr>
      </p:sp>
      <p:sp>
        <p:nvSpPr>
          <p:cNvPr id="3" name="Text 1"/>
          <p:cNvSpPr/>
          <p:nvPr/>
        </p:nvSpPr>
        <p:spPr>
          <a:xfrm>
            <a:off x="502920" y="91440"/>
            <a:ext cx="4572000" cy="41148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USER JOURNEY</a:t>
            </a:r>
            <a:endParaRPr lang="en-US" sz="2200" dirty="0"/>
          </a:p>
        </p:txBody>
      </p:sp>
      <p:sp>
        <p:nvSpPr>
          <p:cNvPr id="4" name="Text 2"/>
          <p:cNvSpPr/>
          <p:nvPr/>
        </p:nvSpPr>
        <p:spPr>
          <a:xfrm>
            <a:off x="502920" y="530352"/>
            <a:ext cx="6400800" cy="320040"/>
          </a:xfrm>
          <a:prstGeom prst="rect">
            <a:avLst/>
          </a:prstGeom>
          <a:noFill/>
          <a:ln/>
        </p:spPr>
        <p:txBody>
          <a:bodyPr wrap="square" lIns="0" tIns="0" rIns="0" bIns="0" rtlCol="0" anchor="ctr"/>
          <a:lstStyle/>
          <a:p>
            <a:pPr algn="l" indent="0" marL="0">
              <a:buNone/>
            </a:pPr>
            <a:r>
              <a:rPr lang="en-US" sz="1150" dirty="0">
                <a:solidFill>
                  <a:srgbClr val="9AA6B2"/>
                </a:solidFill>
                <a:latin typeface="Calibri" pitchFamily="34" charset="0"/>
                <a:ea typeface="Calibri" pitchFamily="34" charset="-122"/>
                <a:cs typeface="Calibri" pitchFamily="34" charset="-120"/>
              </a:rPr>
              <a:t>Meena, 54, Lucknow — A digital arrest almost happened</a:t>
            </a:r>
            <a:endParaRPr lang="en-US" sz="1150" dirty="0"/>
          </a:p>
        </p:txBody>
      </p:sp>
      <p:sp>
        <p:nvSpPr>
          <p:cNvPr id="5" name="Shape 3"/>
          <p:cNvSpPr/>
          <p:nvPr/>
        </p:nvSpPr>
        <p:spPr>
          <a:xfrm>
            <a:off x="347472" y="1097280"/>
            <a:ext cx="1572768" cy="3200400"/>
          </a:xfrm>
          <a:prstGeom prst="roundRect">
            <a:avLst>
              <a:gd name="adj" fmla="val 6977"/>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6" name="Shape 4"/>
          <p:cNvSpPr/>
          <p:nvPr/>
        </p:nvSpPr>
        <p:spPr>
          <a:xfrm>
            <a:off x="905256" y="987552"/>
            <a:ext cx="457200" cy="457200"/>
          </a:xfrm>
          <a:prstGeom prst="ellipse">
            <a:avLst/>
          </a:prstGeom>
          <a:solidFill>
            <a:srgbClr val="6B4C4C"/>
          </a:solidFill>
          <a:ln w="12700">
            <a:solidFill>
              <a:srgbClr val="6B4C4C"/>
            </a:solidFill>
            <a:prstDash val="solid"/>
          </a:ln>
        </p:spPr>
      </p:sp>
      <p:sp>
        <p:nvSpPr>
          <p:cNvPr id="7" name="Text 5"/>
          <p:cNvSpPr/>
          <p:nvPr/>
        </p:nvSpPr>
        <p:spPr>
          <a:xfrm>
            <a:off x="905256" y="9875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p:nvPr/>
        </p:nvSpPr>
        <p:spPr>
          <a:xfrm>
            <a:off x="347472" y="1600200"/>
            <a:ext cx="1572768" cy="256032"/>
          </a:xfrm>
          <a:prstGeom prst="rect">
            <a:avLst/>
          </a:prstGeom>
          <a:noFill/>
          <a:ln/>
        </p:spPr>
        <p:txBody>
          <a:bodyPr wrap="square" lIns="0" tIns="0" rIns="0" bIns="0" rtlCol="0" anchor="ctr"/>
          <a:lstStyle/>
          <a:p>
            <a:pPr algn="ctr" indent="0" marL="0">
              <a:buNone/>
            </a:pPr>
            <a:r>
              <a:rPr lang="en-US" sz="850" b="1" dirty="0">
                <a:solidFill>
                  <a:srgbClr val="6B4C4C"/>
                </a:solidFill>
                <a:latin typeface="Calibri" pitchFamily="34" charset="0"/>
                <a:ea typeface="Calibri" pitchFamily="34" charset="-122"/>
                <a:cs typeface="Calibri" pitchFamily="34" charset="-120"/>
              </a:rPr>
              <a:t>11:02 AM</a:t>
            </a:r>
            <a:endParaRPr lang="en-US" sz="850" dirty="0"/>
          </a:p>
        </p:txBody>
      </p:sp>
      <p:sp>
        <p:nvSpPr>
          <p:cNvPr id="9" name="Text 7"/>
          <p:cNvSpPr/>
          <p:nvPr/>
        </p:nvSpPr>
        <p:spPr>
          <a:xfrm>
            <a:off x="347472" y="1883664"/>
            <a:ext cx="1572768" cy="347472"/>
          </a:xfrm>
          <a:prstGeom prst="rect">
            <a:avLst/>
          </a:prstGeom>
          <a:noFill/>
          <a:ln/>
        </p:spPr>
        <p:txBody>
          <a:bodyPr wrap="square" lIns="0" tIns="0" rIns="0" bIns="0" rtlCol="0" anchor="ctr"/>
          <a:lstStyle/>
          <a:p>
            <a:pPr algn="ctr" indent="0" marL="0">
              <a:buNone/>
            </a:pPr>
            <a:r>
              <a:rPr lang="en-US" sz="1050" b="1" dirty="0">
                <a:solidFill>
                  <a:srgbClr val="1B2A41"/>
                </a:solidFill>
                <a:latin typeface="Cambria" pitchFamily="34" charset="0"/>
                <a:ea typeface="Cambria" pitchFamily="34" charset="-122"/>
                <a:cs typeface="Cambria" pitchFamily="34" charset="-120"/>
              </a:rPr>
              <a:t>Scam call received</a:t>
            </a:r>
            <a:endParaRPr lang="en-US" sz="1050" dirty="0"/>
          </a:p>
        </p:txBody>
      </p:sp>
      <p:sp>
        <p:nvSpPr>
          <p:cNvPr id="10" name="Text 8"/>
          <p:cNvSpPr/>
          <p:nvPr/>
        </p:nvSpPr>
        <p:spPr>
          <a:xfrm>
            <a:off x="438912" y="2304288"/>
            <a:ext cx="1389888" cy="1874520"/>
          </a:xfrm>
          <a:prstGeom prst="rect">
            <a:avLst/>
          </a:prstGeom>
          <a:noFill/>
          <a:ln/>
        </p:spPr>
        <p:txBody>
          <a:bodyPr wrap="square" lIns="0" tIns="0" rIns="0" bIns="0" rtlCol="0" anchor="ctr"/>
          <a:lstStyle/>
          <a:p>
            <a:pPr algn="l" indent="0" marL="0">
              <a:buNone/>
            </a:pPr>
            <a:r>
              <a:rPr lang="en-US" sz="950" dirty="0">
                <a:solidFill>
                  <a:srgbClr val="4D5A6B"/>
                </a:solidFill>
                <a:latin typeface="Calibri" pitchFamily="34" charset="0"/>
                <a:ea typeface="Calibri" pitchFamily="34" charset="-122"/>
                <a:cs typeface="Calibri" pitchFamily="34" charset="-120"/>
              </a:rPr>
              <a:t>Fake CBI officer claims Meena's Aadhaar is linked to money laundering. She panics.</a:t>
            </a:r>
            <a:endParaRPr lang="en-US" sz="950" dirty="0"/>
          </a:p>
        </p:txBody>
      </p:sp>
      <p:sp>
        <p:nvSpPr>
          <p:cNvPr id="11" name="Shape 9"/>
          <p:cNvSpPr/>
          <p:nvPr/>
        </p:nvSpPr>
        <p:spPr>
          <a:xfrm>
            <a:off x="1956816" y="2496312"/>
            <a:ext cx="91440" cy="73152"/>
          </a:xfrm>
          <a:prstGeom prst="rect">
            <a:avLst/>
          </a:prstGeom>
          <a:solidFill>
            <a:srgbClr val="9AA6B2"/>
          </a:solidFill>
          <a:ln w="12700">
            <a:solidFill>
              <a:srgbClr val="9AA6B2"/>
            </a:solidFill>
            <a:prstDash val="solid"/>
          </a:ln>
        </p:spPr>
      </p:sp>
      <p:sp>
        <p:nvSpPr>
          <p:cNvPr id="12" name="Shape 10"/>
          <p:cNvSpPr/>
          <p:nvPr/>
        </p:nvSpPr>
        <p:spPr>
          <a:xfrm>
            <a:off x="2057400" y="1097280"/>
            <a:ext cx="1572768" cy="3200400"/>
          </a:xfrm>
          <a:prstGeom prst="roundRect">
            <a:avLst>
              <a:gd name="adj" fmla="val 6977"/>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13" name="Shape 11"/>
          <p:cNvSpPr/>
          <p:nvPr/>
        </p:nvSpPr>
        <p:spPr>
          <a:xfrm>
            <a:off x="2615184" y="987552"/>
            <a:ext cx="457200" cy="457200"/>
          </a:xfrm>
          <a:prstGeom prst="ellipse">
            <a:avLst/>
          </a:prstGeom>
          <a:solidFill>
            <a:srgbClr val="7A5C3C"/>
          </a:solidFill>
          <a:ln w="12700">
            <a:solidFill>
              <a:srgbClr val="7A5C3C"/>
            </a:solidFill>
            <a:prstDash val="solid"/>
          </a:ln>
        </p:spPr>
      </p:sp>
      <p:sp>
        <p:nvSpPr>
          <p:cNvPr id="14" name="Text 12"/>
          <p:cNvSpPr/>
          <p:nvPr/>
        </p:nvSpPr>
        <p:spPr>
          <a:xfrm>
            <a:off x="2615184" y="9875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5" name="Text 13"/>
          <p:cNvSpPr/>
          <p:nvPr/>
        </p:nvSpPr>
        <p:spPr>
          <a:xfrm>
            <a:off x="2057400" y="1600200"/>
            <a:ext cx="1572768" cy="256032"/>
          </a:xfrm>
          <a:prstGeom prst="rect">
            <a:avLst/>
          </a:prstGeom>
          <a:noFill/>
          <a:ln/>
        </p:spPr>
        <p:txBody>
          <a:bodyPr wrap="square" lIns="0" tIns="0" rIns="0" bIns="0" rtlCol="0" anchor="ctr"/>
          <a:lstStyle/>
          <a:p>
            <a:pPr algn="ctr" indent="0" marL="0">
              <a:buNone/>
            </a:pPr>
            <a:r>
              <a:rPr lang="en-US" sz="850" b="1" dirty="0">
                <a:solidFill>
                  <a:srgbClr val="7A5C3C"/>
                </a:solidFill>
                <a:latin typeface="Calibri" pitchFamily="34" charset="0"/>
                <a:ea typeface="Calibri" pitchFamily="34" charset="-122"/>
                <a:cs typeface="Calibri" pitchFamily="34" charset="-120"/>
              </a:rPr>
              <a:t>11:18 AM</a:t>
            </a:r>
            <a:endParaRPr lang="en-US" sz="850" dirty="0"/>
          </a:p>
        </p:txBody>
      </p:sp>
      <p:sp>
        <p:nvSpPr>
          <p:cNvPr id="16" name="Text 14"/>
          <p:cNvSpPr/>
          <p:nvPr/>
        </p:nvSpPr>
        <p:spPr>
          <a:xfrm>
            <a:off x="2057400" y="1883664"/>
            <a:ext cx="1572768" cy="347472"/>
          </a:xfrm>
          <a:prstGeom prst="rect">
            <a:avLst/>
          </a:prstGeom>
          <a:noFill/>
          <a:ln/>
        </p:spPr>
        <p:txBody>
          <a:bodyPr wrap="square" lIns="0" tIns="0" rIns="0" bIns="0" rtlCol="0" anchor="ctr"/>
          <a:lstStyle/>
          <a:p>
            <a:pPr algn="ctr" indent="0" marL="0">
              <a:buNone/>
            </a:pPr>
            <a:r>
              <a:rPr lang="en-US" sz="1050" b="1" dirty="0">
                <a:solidFill>
                  <a:srgbClr val="1B2A41"/>
                </a:solidFill>
                <a:latin typeface="Cambria" pitchFamily="34" charset="0"/>
                <a:ea typeface="Cambria" pitchFamily="34" charset="-122"/>
                <a:cs typeface="Cambria" pitchFamily="34" charset="-120"/>
              </a:rPr>
              <a:t>Transfer initiated</a:t>
            </a:r>
            <a:endParaRPr lang="en-US" sz="1050" dirty="0"/>
          </a:p>
        </p:txBody>
      </p:sp>
      <p:sp>
        <p:nvSpPr>
          <p:cNvPr id="17" name="Text 15"/>
          <p:cNvSpPr/>
          <p:nvPr/>
        </p:nvSpPr>
        <p:spPr>
          <a:xfrm>
            <a:off x="2148840" y="2304288"/>
            <a:ext cx="1389888" cy="1874520"/>
          </a:xfrm>
          <a:prstGeom prst="rect">
            <a:avLst/>
          </a:prstGeom>
          <a:noFill/>
          <a:ln/>
        </p:spPr>
        <p:txBody>
          <a:bodyPr wrap="square" lIns="0" tIns="0" rIns="0" bIns="0" rtlCol="0" anchor="ctr"/>
          <a:lstStyle/>
          <a:p>
            <a:pPr algn="l" indent="0" marL="0">
              <a:buNone/>
            </a:pPr>
            <a:r>
              <a:rPr lang="en-US" sz="950" dirty="0">
                <a:solidFill>
                  <a:srgbClr val="4D5A6B"/>
                </a:solidFill>
                <a:latin typeface="Calibri" pitchFamily="34" charset="0"/>
                <a:ea typeface="Calibri" pitchFamily="34" charset="-122"/>
                <a:cs typeface="Calibri" pitchFamily="34" charset="-120"/>
              </a:rPr>
              <a:t>Under pressure, Meena opens PhonePe to send ₹40,000 to an unknown account.</a:t>
            </a:r>
            <a:endParaRPr lang="en-US" sz="950" dirty="0"/>
          </a:p>
        </p:txBody>
      </p:sp>
      <p:sp>
        <p:nvSpPr>
          <p:cNvPr id="18" name="Shape 16"/>
          <p:cNvSpPr/>
          <p:nvPr/>
        </p:nvSpPr>
        <p:spPr>
          <a:xfrm>
            <a:off x="3666744" y="2496312"/>
            <a:ext cx="91440" cy="73152"/>
          </a:xfrm>
          <a:prstGeom prst="rect">
            <a:avLst/>
          </a:prstGeom>
          <a:solidFill>
            <a:srgbClr val="9AA6B2"/>
          </a:solidFill>
          <a:ln w="12700">
            <a:solidFill>
              <a:srgbClr val="9AA6B2"/>
            </a:solidFill>
            <a:prstDash val="solid"/>
          </a:ln>
        </p:spPr>
      </p:sp>
      <p:sp>
        <p:nvSpPr>
          <p:cNvPr id="19" name="Shape 17"/>
          <p:cNvSpPr/>
          <p:nvPr/>
        </p:nvSpPr>
        <p:spPr>
          <a:xfrm>
            <a:off x="3767328" y="1097280"/>
            <a:ext cx="1572768" cy="3200400"/>
          </a:xfrm>
          <a:prstGeom prst="roundRect">
            <a:avLst>
              <a:gd name="adj" fmla="val 6977"/>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20" name="Shape 18"/>
          <p:cNvSpPr/>
          <p:nvPr/>
        </p:nvSpPr>
        <p:spPr>
          <a:xfrm>
            <a:off x="4325112" y="987552"/>
            <a:ext cx="457200" cy="457200"/>
          </a:xfrm>
          <a:prstGeom prst="ellipse">
            <a:avLst/>
          </a:prstGeom>
          <a:solidFill>
            <a:srgbClr val="9C7A3C"/>
          </a:solidFill>
          <a:ln w="12700">
            <a:solidFill>
              <a:srgbClr val="9C7A3C"/>
            </a:solidFill>
            <a:prstDash val="solid"/>
          </a:ln>
        </p:spPr>
      </p:sp>
      <p:sp>
        <p:nvSpPr>
          <p:cNvPr id="21" name="Text 19"/>
          <p:cNvSpPr/>
          <p:nvPr/>
        </p:nvSpPr>
        <p:spPr>
          <a:xfrm>
            <a:off x="4325112" y="9875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2" name="Text 20"/>
          <p:cNvSpPr/>
          <p:nvPr/>
        </p:nvSpPr>
        <p:spPr>
          <a:xfrm>
            <a:off x="3767328" y="1600200"/>
            <a:ext cx="1572768" cy="256032"/>
          </a:xfrm>
          <a:prstGeom prst="rect">
            <a:avLst/>
          </a:prstGeom>
          <a:noFill/>
          <a:ln/>
        </p:spPr>
        <p:txBody>
          <a:bodyPr wrap="square" lIns="0" tIns="0" rIns="0" bIns="0" rtlCol="0" anchor="ctr"/>
          <a:lstStyle/>
          <a:p>
            <a:pPr algn="ctr" indent="0" marL="0">
              <a:buNone/>
            </a:pPr>
            <a:r>
              <a:rPr lang="en-US" sz="850" b="1" dirty="0">
                <a:solidFill>
                  <a:srgbClr val="9C7A3C"/>
                </a:solidFill>
                <a:latin typeface="Calibri" pitchFamily="34" charset="0"/>
                <a:ea typeface="Calibri" pitchFamily="34" charset="-122"/>
                <a:cs typeface="Calibri" pitchFamily="34" charset="-120"/>
              </a:rPr>
              <a:t>11:18 AM</a:t>
            </a:r>
            <a:endParaRPr lang="en-US" sz="850" dirty="0"/>
          </a:p>
        </p:txBody>
      </p:sp>
      <p:sp>
        <p:nvSpPr>
          <p:cNvPr id="23" name="Text 21"/>
          <p:cNvSpPr/>
          <p:nvPr/>
        </p:nvSpPr>
        <p:spPr>
          <a:xfrm>
            <a:off x="3767328" y="1883664"/>
            <a:ext cx="1572768" cy="347472"/>
          </a:xfrm>
          <a:prstGeom prst="rect">
            <a:avLst/>
          </a:prstGeom>
          <a:noFill/>
          <a:ln/>
        </p:spPr>
        <p:txBody>
          <a:bodyPr wrap="square" lIns="0" tIns="0" rIns="0" bIns="0" rtlCol="0" anchor="ctr"/>
          <a:lstStyle/>
          <a:p>
            <a:pPr algn="ctr" indent="0" marL="0">
              <a:buNone/>
            </a:pPr>
            <a:r>
              <a:rPr lang="en-US" sz="1050" b="1" dirty="0">
                <a:solidFill>
                  <a:srgbClr val="1B2A41"/>
                </a:solidFill>
                <a:latin typeface="Cambria" pitchFamily="34" charset="0"/>
                <a:ea typeface="Cambria" pitchFamily="34" charset="-122"/>
                <a:cs typeface="Cambria" pitchFamily="34" charset="-120"/>
              </a:rPr>
              <a:t>Kavach activates</a:t>
            </a:r>
            <a:endParaRPr lang="en-US" sz="1050" dirty="0"/>
          </a:p>
        </p:txBody>
      </p:sp>
      <p:sp>
        <p:nvSpPr>
          <p:cNvPr id="24" name="Text 22"/>
          <p:cNvSpPr/>
          <p:nvPr/>
        </p:nvSpPr>
        <p:spPr>
          <a:xfrm>
            <a:off x="3858768" y="2304288"/>
            <a:ext cx="1389888" cy="1874520"/>
          </a:xfrm>
          <a:prstGeom prst="rect">
            <a:avLst/>
          </a:prstGeom>
          <a:noFill/>
          <a:ln/>
        </p:spPr>
        <p:txBody>
          <a:bodyPr wrap="square" lIns="0" tIns="0" rIns="0" bIns="0" rtlCol="0" anchor="ctr"/>
          <a:lstStyle/>
          <a:p>
            <a:pPr algn="l" indent="0" marL="0">
              <a:buNone/>
            </a:pPr>
            <a:r>
              <a:rPr lang="en-US" sz="950" dirty="0">
                <a:solidFill>
                  <a:srgbClr val="4D5A6B"/>
                </a:solidFill>
                <a:latin typeface="Calibri" pitchFamily="34" charset="0"/>
                <a:ea typeface="Calibri" pitchFamily="34" charset="-122"/>
                <a:cs typeface="Calibri" pitchFamily="34" charset="-120"/>
              </a:rPr>
              <a:t>Detects: new recipient and high value. Asks in Hindi: 'Kya koi force kar raha hai?'</a:t>
            </a:r>
            <a:endParaRPr lang="en-US" sz="950" dirty="0"/>
          </a:p>
        </p:txBody>
      </p:sp>
      <p:sp>
        <p:nvSpPr>
          <p:cNvPr id="25" name="Shape 23"/>
          <p:cNvSpPr/>
          <p:nvPr/>
        </p:nvSpPr>
        <p:spPr>
          <a:xfrm>
            <a:off x="5376672" y="2496312"/>
            <a:ext cx="91440" cy="73152"/>
          </a:xfrm>
          <a:prstGeom prst="rect">
            <a:avLst/>
          </a:prstGeom>
          <a:solidFill>
            <a:srgbClr val="9AA6B2"/>
          </a:solidFill>
          <a:ln w="12700">
            <a:solidFill>
              <a:srgbClr val="9AA6B2"/>
            </a:solidFill>
            <a:prstDash val="solid"/>
          </a:ln>
        </p:spPr>
      </p:sp>
      <p:sp>
        <p:nvSpPr>
          <p:cNvPr id="26" name="Shape 24"/>
          <p:cNvSpPr/>
          <p:nvPr/>
        </p:nvSpPr>
        <p:spPr>
          <a:xfrm>
            <a:off x="5477256" y="1097280"/>
            <a:ext cx="1572768" cy="3200400"/>
          </a:xfrm>
          <a:prstGeom prst="roundRect">
            <a:avLst>
              <a:gd name="adj" fmla="val 6977"/>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27" name="Shape 25"/>
          <p:cNvSpPr/>
          <p:nvPr/>
        </p:nvSpPr>
        <p:spPr>
          <a:xfrm>
            <a:off x="6035040" y="987552"/>
            <a:ext cx="457200" cy="457200"/>
          </a:xfrm>
          <a:prstGeom prst="ellipse">
            <a:avLst/>
          </a:prstGeom>
          <a:solidFill>
            <a:srgbClr val="33495F"/>
          </a:solidFill>
          <a:ln w="12700">
            <a:solidFill>
              <a:srgbClr val="33495F"/>
            </a:solidFill>
            <a:prstDash val="solid"/>
          </a:ln>
        </p:spPr>
      </p:sp>
      <p:sp>
        <p:nvSpPr>
          <p:cNvPr id="28" name="Text 26"/>
          <p:cNvSpPr/>
          <p:nvPr/>
        </p:nvSpPr>
        <p:spPr>
          <a:xfrm>
            <a:off x="6035040" y="9875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9" name="Text 27"/>
          <p:cNvSpPr/>
          <p:nvPr/>
        </p:nvSpPr>
        <p:spPr>
          <a:xfrm>
            <a:off x="5477256" y="1600200"/>
            <a:ext cx="1572768" cy="256032"/>
          </a:xfrm>
          <a:prstGeom prst="rect">
            <a:avLst/>
          </a:prstGeom>
          <a:noFill/>
          <a:ln/>
        </p:spPr>
        <p:txBody>
          <a:bodyPr wrap="square" lIns="0" tIns="0" rIns="0" bIns="0" rtlCol="0" anchor="ctr"/>
          <a:lstStyle/>
          <a:p>
            <a:pPr algn="ctr" indent="0" marL="0">
              <a:buNone/>
            </a:pPr>
            <a:r>
              <a:rPr lang="en-US" sz="850" b="1" dirty="0">
                <a:solidFill>
                  <a:srgbClr val="33495F"/>
                </a:solidFill>
                <a:latin typeface="Calibri" pitchFamily="34" charset="0"/>
                <a:ea typeface="Calibri" pitchFamily="34" charset="-122"/>
                <a:cs typeface="Calibri" pitchFamily="34" charset="-120"/>
              </a:rPr>
              <a:t>11:19 AM</a:t>
            </a:r>
            <a:endParaRPr lang="en-US" sz="850" dirty="0"/>
          </a:p>
        </p:txBody>
      </p:sp>
      <p:sp>
        <p:nvSpPr>
          <p:cNvPr id="30" name="Text 28"/>
          <p:cNvSpPr/>
          <p:nvPr/>
        </p:nvSpPr>
        <p:spPr>
          <a:xfrm>
            <a:off x="5477256" y="1883664"/>
            <a:ext cx="1572768" cy="347472"/>
          </a:xfrm>
          <a:prstGeom prst="rect">
            <a:avLst/>
          </a:prstGeom>
          <a:noFill/>
          <a:ln/>
        </p:spPr>
        <p:txBody>
          <a:bodyPr wrap="square" lIns="0" tIns="0" rIns="0" bIns="0" rtlCol="0" anchor="ctr"/>
          <a:lstStyle/>
          <a:p>
            <a:pPr algn="ctr" indent="0" marL="0">
              <a:buNone/>
            </a:pPr>
            <a:r>
              <a:rPr lang="en-US" sz="1050" b="1" dirty="0">
                <a:solidFill>
                  <a:srgbClr val="1B2A41"/>
                </a:solidFill>
                <a:latin typeface="Cambria" pitchFamily="34" charset="0"/>
                <a:ea typeface="Cambria" pitchFamily="34" charset="-122"/>
                <a:cs typeface="Cambria" pitchFamily="34" charset="-120"/>
              </a:rPr>
              <a:t>Trusted circle alerted</a:t>
            </a:r>
            <a:endParaRPr lang="en-US" sz="1050" dirty="0"/>
          </a:p>
        </p:txBody>
      </p:sp>
      <p:sp>
        <p:nvSpPr>
          <p:cNvPr id="31" name="Text 29"/>
          <p:cNvSpPr/>
          <p:nvPr/>
        </p:nvSpPr>
        <p:spPr>
          <a:xfrm>
            <a:off x="5568696" y="2304288"/>
            <a:ext cx="1389888" cy="1874520"/>
          </a:xfrm>
          <a:prstGeom prst="rect">
            <a:avLst/>
          </a:prstGeom>
          <a:noFill/>
          <a:ln/>
        </p:spPr>
        <p:txBody>
          <a:bodyPr wrap="square" lIns="0" tIns="0" rIns="0" bIns="0" rtlCol="0" anchor="ctr"/>
          <a:lstStyle/>
          <a:p>
            <a:pPr algn="l" indent="0" marL="0">
              <a:buNone/>
            </a:pPr>
            <a:r>
              <a:rPr lang="en-US" sz="950" dirty="0">
                <a:solidFill>
                  <a:srgbClr val="4D5A6B"/>
                </a:solidFill>
                <a:latin typeface="Calibri" pitchFamily="34" charset="0"/>
                <a:ea typeface="Calibri" pitchFamily="34" charset="-122"/>
                <a:cs typeface="Calibri" pitchFamily="34" charset="-120"/>
              </a:rPr>
              <a:t>Meena confirms distress. Kavach notifies her son via WhatsApp: 'Amma is being pressured. Call now.'</a:t>
            </a:r>
            <a:endParaRPr lang="en-US" sz="950" dirty="0"/>
          </a:p>
        </p:txBody>
      </p:sp>
      <p:sp>
        <p:nvSpPr>
          <p:cNvPr id="32" name="Shape 30"/>
          <p:cNvSpPr/>
          <p:nvPr/>
        </p:nvSpPr>
        <p:spPr>
          <a:xfrm>
            <a:off x="7086600" y="2496312"/>
            <a:ext cx="91440" cy="73152"/>
          </a:xfrm>
          <a:prstGeom prst="rect">
            <a:avLst/>
          </a:prstGeom>
          <a:solidFill>
            <a:srgbClr val="9AA6B2"/>
          </a:solidFill>
          <a:ln w="12700">
            <a:solidFill>
              <a:srgbClr val="9AA6B2"/>
            </a:solidFill>
            <a:prstDash val="solid"/>
          </a:ln>
        </p:spPr>
      </p:sp>
      <p:sp>
        <p:nvSpPr>
          <p:cNvPr id="33" name="Shape 31"/>
          <p:cNvSpPr/>
          <p:nvPr/>
        </p:nvSpPr>
        <p:spPr>
          <a:xfrm>
            <a:off x="7187184" y="1097280"/>
            <a:ext cx="1572768" cy="3200400"/>
          </a:xfrm>
          <a:prstGeom prst="roundRect">
            <a:avLst>
              <a:gd name="adj" fmla="val 6977"/>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34" name="Shape 32"/>
          <p:cNvSpPr/>
          <p:nvPr/>
        </p:nvSpPr>
        <p:spPr>
          <a:xfrm>
            <a:off x="7744968" y="987552"/>
            <a:ext cx="457200" cy="457200"/>
          </a:xfrm>
          <a:prstGeom prst="ellipse">
            <a:avLst/>
          </a:prstGeom>
          <a:solidFill>
            <a:srgbClr val="2E5A3E"/>
          </a:solidFill>
          <a:ln w="12700">
            <a:solidFill>
              <a:srgbClr val="2E5A3E"/>
            </a:solidFill>
            <a:prstDash val="solid"/>
          </a:ln>
        </p:spPr>
      </p:sp>
      <p:sp>
        <p:nvSpPr>
          <p:cNvPr id="35" name="Text 33"/>
          <p:cNvSpPr/>
          <p:nvPr/>
        </p:nvSpPr>
        <p:spPr>
          <a:xfrm>
            <a:off x="7744968" y="9875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6" name="Text 34"/>
          <p:cNvSpPr/>
          <p:nvPr/>
        </p:nvSpPr>
        <p:spPr>
          <a:xfrm>
            <a:off x="7187184" y="1600200"/>
            <a:ext cx="1572768" cy="256032"/>
          </a:xfrm>
          <a:prstGeom prst="rect">
            <a:avLst/>
          </a:prstGeom>
          <a:noFill/>
          <a:ln/>
        </p:spPr>
        <p:txBody>
          <a:bodyPr wrap="square" lIns="0" tIns="0" rIns="0" bIns="0" rtlCol="0" anchor="ctr"/>
          <a:lstStyle/>
          <a:p>
            <a:pPr algn="ctr" indent="0" marL="0">
              <a:buNone/>
            </a:pPr>
            <a:r>
              <a:rPr lang="en-US" sz="850" b="1" dirty="0">
                <a:solidFill>
                  <a:srgbClr val="2E5A3E"/>
                </a:solidFill>
                <a:latin typeface="Calibri" pitchFamily="34" charset="0"/>
                <a:ea typeface="Calibri" pitchFamily="34" charset="-122"/>
                <a:cs typeface="Calibri" pitchFamily="34" charset="-120"/>
              </a:rPr>
              <a:t>11:21 AM</a:t>
            </a:r>
            <a:endParaRPr lang="en-US" sz="850" dirty="0"/>
          </a:p>
        </p:txBody>
      </p:sp>
      <p:sp>
        <p:nvSpPr>
          <p:cNvPr id="37" name="Text 35"/>
          <p:cNvSpPr/>
          <p:nvPr/>
        </p:nvSpPr>
        <p:spPr>
          <a:xfrm>
            <a:off x="7187184" y="1883664"/>
            <a:ext cx="1572768" cy="347472"/>
          </a:xfrm>
          <a:prstGeom prst="rect">
            <a:avLst/>
          </a:prstGeom>
          <a:noFill/>
          <a:ln/>
        </p:spPr>
        <p:txBody>
          <a:bodyPr wrap="square" lIns="0" tIns="0" rIns="0" bIns="0" rtlCol="0" anchor="ctr"/>
          <a:lstStyle/>
          <a:p>
            <a:pPr algn="ctr" indent="0" marL="0">
              <a:buNone/>
            </a:pPr>
            <a:r>
              <a:rPr lang="en-US" sz="1050" b="1" dirty="0">
                <a:solidFill>
                  <a:srgbClr val="1B2A41"/>
                </a:solidFill>
                <a:latin typeface="Cambria" pitchFamily="34" charset="0"/>
                <a:ea typeface="Cambria" pitchFamily="34" charset="-122"/>
                <a:cs typeface="Cambria" pitchFamily="34" charset="-120"/>
              </a:rPr>
              <a:t>Scam broken</a:t>
            </a:r>
            <a:endParaRPr lang="en-US" sz="1050" dirty="0"/>
          </a:p>
        </p:txBody>
      </p:sp>
      <p:sp>
        <p:nvSpPr>
          <p:cNvPr id="38" name="Text 36"/>
          <p:cNvSpPr/>
          <p:nvPr/>
        </p:nvSpPr>
        <p:spPr>
          <a:xfrm>
            <a:off x="7278624" y="2304288"/>
            <a:ext cx="1389888" cy="1874520"/>
          </a:xfrm>
          <a:prstGeom prst="rect">
            <a:avLst/>
          </a:prstGeom>
          <a:noFill/>
          <a:ln/>
        </p:spPr>
        <p:txBody>
          <a:bodyPr wrap="square" lIns="0" tIns="0" rIns="0" bIns="0" rtlCol="0" anchor="ctr"/>
          <a:lstStyle/>
          <a:p>
            <a:pPr algn="l" indent="0" marL="0">
              <a:buNone/>
            </a:pPr>
            <a:r>
              <a:rPr lang="en-US" sz="950" dirty="0">
                <a:solidFill>
                  <a:srgbClr val="4D5A6B"/>
                </a:solidFill>
                <a:latin typeface="Calibri" pitchFamily="34" charset="0"/>
                <a:ea typeface="Calibri" pitchFamily="34" charset="-122"/>
                <a:cs typeface="Calibri" pitchFamily="34" charset="-120"/>
              </a:rPr>
              <a:t>Son calls. Scammer disconnects. Kavach guides Meena to file on 1930. ₹40,000 saved.</a:t>
            </a:r>
            <a:endParaRPr lang="en-US" sz="950" dirty="0"/>
          </a:p>
        </p:txBody>
      </p:sp>
      <p:sp>
        <p:nvSpPr>
          <p:cNvPr id="39" name="Shape 37"/>
          <p:cNvSpPr/>
          <p:nvPr/>
        </p:nvSpPr>
        <p:spPr>
          <a:xfrm>
            <a:off x="347472" y="4480560"/>
            <a:ext cx="8449056" cy="502920"/>
          </a:xfrm>
          <a:prstGeom prst="roundRect">
            <a:avLst>
              <a:gd name="adj" fmla="val 18182"/>
            </a:avLst>
          </a:prstGeom>
          <a:solidFill>
            <a:srgbClr val="2E5A3E"/>
          </a:solidFill>
          <a:ln w="12700">
            <a:solidFill>
              <a:srgbClr val="2E5A3E"/>
            </a:solidFill>
            <a:prstDash val="solid"/>
          </a:ln>
        </p:spPr>
      </p:sp>
      <p:sp>
        <p:nvSpPr>
          <p:cNvPr id="40" name="Text 38"/>
          <p:cNvSpPr/>
          <p:nvPr/>
        </p:nvSpPr>
        <p:spPr>
          <a:xfrm>
            <a:off x="457200" y="4526280"/>
            <a:ext cx="8229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19 minutes from scam to safety   ·   Zero rupees lost   ·   ₹40,000 saved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02920" y="274320"/>
            <a:ext cx="8229600" cy="475488"/>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AGENTIC ARCHITECTURE</a:t>
            </a:r>
            <a:endParaRPr lang="en-US" sz="2400" dirty="0"/>
          </a:p>
        </p:txBody>
      </p:sp>
      <p:sp>
        <p:nvSpPr>
          <p:cNvPr id="3" name="Text 1"/>
          <p:cNvSpPr/>
          <p:nvPr/>
        </p:nvSpPr>
        <p:spPr>
          <a:xfrm>
            <a:off x="502920" y="777240"/>
            <a:ext cx="8229600" cy="292608"/>
          </a:xfrm>
          <a:prstGeom prst="rect">
            <a:avLst/>
          </a:prstGeom>
          <a:noFill/>
          <a:ln/>
        </p:spPr>
        <p:txBody>
          <a:bodyPr wrap="square" lIns="0" tIns="0" rIns="0" bIns="0" rtlCol="0" anchor="ctr"/>
          <a:lstStyle/>
          <a:p>
            <a:pPr algn="l" indent="0" marL="0">
              <a:buNone/>
            </a:pPr>
            <a:r>
              <a:rPr lang="en-US" sz="1200" dirty="0">
                <a:solidFill>
                  <a:srgbClr val="9AA6B2"/>
                </a:solidFill>
                <a:latin typeface="Calibri" pitchFamily="34" charset="0"/>
                <a:ea typeface="Calibri" pitchFamily="34" charset="-122"/>
                <a:cs typeface="Calibri" pitchFamily="34" charset="-120"/>
              </a:rPr>
              <a:t>How the AI Agent thinks and acts in real time</a:t>
            </a:r>
            <a:endParaRPr lang="en-US" sz="1200" dirty="0"/>
          </a:p>
        </p:txBody>
      </p:sp>
      <p:sp>
        <p:nvSpPr>
          <p:cNvPr id="4" name="Shape 2"/>
          <p:cNvSpPr/>
          <p:nvPr/>
        </p:nvSpPr>
        <p:spPr>
          <a:xfrm>
            <a:off x="347472" y="1188720"/>
            <a:ext cx="1938528" cy="2148840"/>
          </a:xfrm>
          <a:prstGeom prst="roundRect">
            <a:avLst>
              <a:gd name="adj" fmla="val 5660"/>
            </a:avLst>
          </a:prstGeom>
          <a:solidFill>
            <a:srgbClr val="2B3F58"/>
          </a:solidFill>
          <a:ln w="12700">
            <a:solidFill>
              <a:srgbClr val="2B3F58"/>
            </a:solidFill>
            <a:prstDash val="solid"/>
          </a:ln>
        </p:spPr>
      </p:sp>
      <p:sp>
        <p:nvSpPr>
          <p:cNvPr id="5" name="Shape 3"/>
          <p:cNvSpPr/>
          <p:nvPr/>
        </p:nvSpPr>
        <p:spPr>
          <a:xfrm>
            <a:off x="1060704" y="1298448"/>
            <a:ext cx="512064" cy="512064"/>
          </a:xfrm>
          <a:prstGeom prst="ellipse">
            <a:avLst/>
          </a:prstGeom>
          <a:solidFill>
            <a:srgbClr val="9C7A3C"/>
          </a:solidFill>
          <a:ln w="12700">
            <a:solidFill>
              <a:srgbClr val="9C7A3C"/>
            </a:solidFill>
            <a:prstDash val="solid"/>
          </a:ln>
        </p:spPr>
      </p:sp>
      <p:sp>
        <p:nvSpPr>
          <p:cNvPr id="6" name="Text 4"/>
          <p:cNvSpPr/>
          <p:nvPr/>
        </p:nvSpPr>
        <p:spPr>
          <a:xfrm>
            <a:off x="1060704" y="129844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a:t>
            </a:r>
            <a:endParaRPr lang="en-US" sz="1800" dirty="0"/>
          </a:p>
        </p:txBody>
      </p:sp>
      <p:sp>
        <p:nvSpPr>
          <p:cNvPr id="7" name="Text 5"/>
          <p:cNvSpPr/>
          <p:nvPr/>
        </p:nvSpPr>
        <p:spPr>
          <a:xfrm>
            <a:off x="347472" y="1901952"/>
            <a:ext cx="1938528" cy="320040"/>
          </a:xfrm>
          <a:prstGeom prst="rect">
            <a:avLst/>
          </a:prstGeom>
          <a:noFill/>
          <a:ln/>
        </p:spPr>
        <p:txBody>
          <a:bodyPr wrap="square" lIns="0" tIns="0" rIns="0" bIns="0" rtlCol="0" anchor="ctr"/>
          <a:lstStyle/>
          <a:p>
            <a:pPr algn="ctr" indent="0" marL="0">
              <a:buNone/>
            </a:pPr>
            <a:r>
              <a:rPr lang="en-US" sz="1100" b="1" dirty="0">
                <a:solidFill>
                  <a:srgbClr val="9C7A3C"/>
                </a:solidFill>
                <a:latin typeface="Cambria" pitchFamily="34" charset="0"/>
                <a:ea typeface="Cambria" pitchFamily="34" charset="-122"/>
                <a:cs typeface="Cambria" pitchFamily="34" charset="-120"/>
              </a:rPr>
              <a:t>PERCEIVE</a:t>
            </a:r>
            <a:endParaRPr lang="en-US" sz="1100" dirty="0"/>
          </a:p>
        </p:txBody>
      </p:sp>
      <p:sp>
        <p:nvSpPr>
          <p:cNvPr id="8" name="Text 6"/>
          <p:cNvSpPr/>
          <p:nvPr/>
        </p:nvSpPr>
        <p:spPr>
          <a:xfrm>
            <a:off x="457200" y="2267712"/>
            <a:ext cx="1719072" cy="960120"/>
          </a:xfrm>
          <a:prstGeom prst="rect">
            <a:avLst/>
          </a:prstGeom>
          <a:noFill/>
          <a:ln/>
        </p:spPr>
        <p:txBody>
          <a:bodyPr wrap="square" lIns="0" tIns="0" rIns="0" bIns="0" rtlCol="0" anchor="ctr"/>
          <a:lstStyle/>
          <a:p>
            <a:pPr algn="ctr" indent="0" marL="0">
              <a:buNone/>
            </a:pPr>
            <a:r>
              <a:rPr lang="en-US" sz="950" dirty="0">
                <a:solidFill>
                  <a:srgbClr val="AAAACC"/>
                </a:solidFill>
                <a:latin typeface="Calibri" pitchFamily="34" charset="0"/>
                <a:ea typeface="Calibri" pitchFamily="34" charset="-122"/>
                <a:cs typeface="Calibri" pitchFamily="34" charset="-120"/>
              </a:rPr>
              <a:t>UPI payment hook intercepts transaction intent. Reads amount, recipient age, and history.</a:t>
            </a:r>
            <a:endParaRPr lang="en-US" sz="950" dirty="0"/>
          </a:p>
        </p:txBody>
      </p:sp>
      <p:sp>
        <p:nvSpPr>
          <p:cNvPr id="9" name="Text 7"/>
          <p:cNvSpPr/>
          <p:nvPr/>
        </p:nvSpPr>
        <p:spPr>
          <a:xfrm>
            <a:off x="2313432" y="1755648"/>
            <a:ext cx="164592" cy="411480"/>
          </a:xfrm>
          <a:prstGeom prst="rect">
            <a:avLst/>
          </a:prstGeom>
          <a:noFill/>
          <a:ln/>
        </p:spPr>
        <p:txBody>
          <a:bodyPr wrap="square" lIns="0" tIns="0" rIns="0" bIns="0" rtlCol="0" anchor="ctr"/>
          <a:lstStyle/>
          <a:p>
            <a:pPr algn="ctr" indent="0" marL="0">
              <a:buNone/>
            </a:pPr>
            <a:r>
              <a:rPr lang="en-US" sz="1800" b="1" dirty="0">
                <a:solidFill>
                  <a:srgbClr val="9C7A3C"/>
                </a:solidFill>
              </a:rPr>
              <a:t>→</a:t>
            </a:r>
            <a:endParaRPr lang="en-US" sz="1800" dirty="0"/>
          </a:p>
        </p:txBody>
      </p:sp>
      <p:sp>
        <p:nvSpPr>
          <p:cNvPr id="10" name="Shape 8"/>
          <p:cNvSpPr/>
          <p:nvPr/>
        </p:nvSpPr>
        <p:spPr>
          <a:xfrm>
            <a:off x="2478024" y="1188720"/>
            <a:ext cx="1938528" cy="2148840"/>
          </a:xfrm>
          <a:prstGeom prst="roundRect">
            <a:avLst>
              <a:gd name="adj" fmla="val 5660"/>
            </a:avLst>
          </a:prstGeom>
          <a:solidFill>
            <a:srgbClr val="2B3F58"/>
          </a:solidFill>
          <a:ln w="12700">
            <a:solidFill>
              <a:srgbClr val="2B3F58"/>
            </a:solidFill>
            <a:prstDash val="solid"/>
          </a:ln>
        </p:spPr>
      </p:sp>
      <p:sp>
        <p:nvSpPr>
          <p:cNvPr id="11" name="Shape 9"/>
          <p:cNvSpPr/>
          <p:nvPr/>
        </p:nvSpPr>
        <p:spPr>
          <a:xfrm>
            <a:off x="3191256" y="1298448"/>
            <a:ext cx="512064" cy="512064"/>
          </a:xfrm>
          <a:prstGeom prst="ellipse">
            <a:avLst/>
          </a:prstGeom>
          <a:solidFill>
            <a:srgbClr val="9C7A3C"/>
          </a:solidFill>
          <a:ln w="12700">
            <a:solidFill>
              <a:srgbClr val="9C7A3C"/>
            </a:solidFill>
            <a:prstDash val="solid"/>
          </a:ln>
        </p:spPr>
      </p:sp>
      <p:sp>
        <p:nvSpPr>
          <p:cNvPr id="12" name="Text 10"/>
          <p:cNvSpPr/>
          <p:nvPr/>
        </p:nvSpPr>
        <p:spPr>
          <a:xfrm>
            <a:off x="3191256" y="129844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t>
            </a:r>
            <a:endParaRPr lang="en-US" sz="1800" dirty="0"/>
          </a:p>
        </p:txBody>
      </p:sp>
      <p:sp>
        <p:nvSpPr>
          <p:cNvPr id="13" name="Text 11"/>
          <p:cNvSpPr/>
          <p:nvPr/>
        </p:nvSpPr>
        <p:spPr>
          <a:xfrm>
            <a:off x="2478024" y="1901952"/>
            <a:ext cx="1938528" cy="320040"/>
          </a:xfrm>
          <a:prstGeom prst="rect">
            <a:avLst/>
          </a:prstGeom>
          <a:noFill/>
          <a:ln/>
        </p:spPr>
        <p:txBody>
          <a:bodyPr wrap="square" lIns="0" tIns="0" rIns="0" bIns="0" rtlCol="0" anchor="ctr"/>
          <a:lstStyle/>
          <a:p>
            <a:pPr algn="ctr" indent="0" marL="0">
              <a:buNone/>
            </a:pPr>
            <a:r>
              <a:rPr lang="en-US" sz="1100" b="1" dirty="0">
                <a:solidFill>
                  <a:srgbClr val="9C7A3C"/>
                </a:solidFill>
                <a:latin typeface="Cambria" pitchFamily="34" charset="0"/>
                <a:ea typeface="Cambria" pitchFamily="34" charset="-122"/>
                <a:cs typeface="Cambria" pitchFamily="34" charset="-120"/>
              </a:rPr>
              <a:t>REASON</a:t>
            </a:r>
            <a:endParaRPr lang="en-US" sz="1100" dirty="0"/>
          </a:p>
        </p:txBody>
      </p:sp>
      <p:sp>
        <p:nvSpPr>
          <p:cNvPr id="14" name="Text 12"/>
          <p:cNvSpPr/>
          <p:nvPr/>
        </p:nvSpPr>
        <p:spPr>
          <a:xfrm>
            <a:off x="2587752" y="2267712"/>
            <a:ext cx="1719072" cy="960120"/>
          </a:xfrm>
          <a:prstGeom prst="rect">
            <a:avLst/>
          </a:prstGeom>
          <a:noFill/>
          <a:ln/>
        </p:spPr>
        <p:txBody>
          <a:bodyPr wrap="square" lIns="0" tIns="0" rIns="0" bIns="0" rtlCol="0" anchor="ctr"/>
          <a:lstStyle/>
          <a:p>
            <a:pPr algn="ctr" indent="0" marL="0">
              <a:buNone/>
            </a:pPr>
            <a:r>
              <a:rPr lang="en-US" sz="950" dirty="0">
                <a:solidFill>
                  <a:srgbClr val="AAAACC"/>
                </a:solidFill>
                <a:latin typeface="Calibri" pitchFamily="34" charset="0"/>
                <a:ea typeface="Calibri" pitchFamily="34" charset="-122"/>
                <a:cs typeface="Calibri" pitchFamily="34" charset="-120"/>
              </a:rPr>
              <a:t>LLM analyses conversation in real-time for fear signals, urgency words, authority mentions.</a:t>
            </a:r>
            <a:endParaRPr lang="en-US" sz="950" dirty="0"/>
          </a:p>
        </p:txBody>
      </p:sp>
      <p:sp>
        <p:nvSpPr>
          <p:cNvPr id="15" name="Text 13"/>
          <p:cNvSpPr/>
          <p:nvPr/>
        </p:nvSpPr>
        <p:spPr>
          <a:xfrm>
            <a:off x="4443984" y="1755648"/>
            <a:ext cx="164592" cy="411480"/>
          </a:xfrm>
          <a:prstGeom prst="rect">
            <a:avLst/>
          </a:prstGeom>
          <a:noFill/>
          <a:ln/>
        </p:spPr>
        <p:txBody>
          <a:bodyPr wrap="square" lIns="0" tIns="0" rIns="0" bIns="0" rtlCol="0" anchor="ctr"/>
          <a:lstStyle/>
          <a:p>
            <a:pPr algn="ctr" indent="0" marL="0">
              <a:buNone/>
            </a:pPr>
            <a:r>
              <a:rPr lang="en-US" sz="1800" b="1" dirty="0">
                <a:solidFill>
                  <a:srgbClr val="9C7A3C"/>
                </a:solidFill>
              </a:rPr>
              <a:t>→</a:t>
            </a:r>
            <a:endParaRPr lang="en-US" sz="1800" dirty="0"/>
          </a:p>
        </p:txBody>
      </p:sp>
      <p:sp>
        <p:nvSpPr>
          <p:cNvPr id="16" name="Shape 14"/>
          <p:cNvSpPr/>
          <p:nvPr/>
        </p:nvSpPr>
        <p:spPr>
          <a:xfrm>
            <a:off x="4608576" y="1188720"/>
            <a:ext cx="1938528" cy="2148840"/>
          </a:xfrm>
          <a:prstGeom prst="roundRect">
            <a:avLst>
              <a:gd name="adj" fmla="val 5660"/>
            </a:avLst>
          </a:prstGeom>
          <a:solidFill>
            <a:srgbClr val="2B3F58"/>
          </a:solidFill>
          <a:ln w="12700">
            <a:solidFill>
              <a:srgbClr val="2B3F58"/>
            </a:solidFill>
            <a:prstDash val="solid"/>
          </a:ln>
        </p:spPr>
      </p:sp>
      <p:sp>
        <p:nvSpPr>
          <p:cNvPr id="17" name="Shape 15"/>
          <p:cNvSpPr/>
          <p:nvPr/>
        </p:nvSpPr>
        <p:spPr>
          <a:xfrm>
            <a:off x="5321808" y="1298448"/>
            <a:ext cx="512064" cy="512064"/>
          </a:xfrm>
          <a:prstGeom prst="ellipse">
            <a:avLst/>
          </a:prstGeom>
          <a:solidFill>
            <a:srgbClr val="9C7A3C"/>
          </a:solidFill>
          <a:ln w="12700">
            <a:solidFill>
              <a:srgbClr val="9C7A3C"/>
            </a:solidFill>
            <a:prstDash val="solid"/>
          </a:ln>
        </p:spPr>
      </p:sp>
      <p:sp>
        <p:nvSpPr>
          <p:cNvPr id="18" name="Text 16"/>
          <p:cNvSpPr/>
          <p:nvPr/>
        </p:nvSpPr>
        <p:spPr>
          <a:xfrm>
            <a:off x="5321808" y="129844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19" name="Text 17"/>
          <p:cNvSpPr/>
          <p:nvPr/>
        </p:nvSpPr>
        <p:spPr>
          <a:xfrm>
            <a:off x="4608576" y="1901952"/>
            <a:ext cx="1938528" cy="320040"/>
          </a:xfrm>
          <a:prstGeom prst="rect">
            <a:avLst/>
          </a:prstGeom>
          <a:noFill/>
          <a:ln/>
        </p:spPr>
        <p:txBody>
          <a:bodyPr wrap="square" lIns="0" tIns="0" rIns="0" bIns="0" rtlCol="0" anchor="ctr"/>
          <a:lstStyle/>
          <a:p>
            <a:pPr algn="ctr" indent="0" marL="0">
              <a:buNone/>
            </a:pPr>
            <a:r>
              <a:rPr lang="en-US" sz="1100" b="1" dirty="0">
                <a:solidFill>
                  <a:srgbClr val="9C7A3C"/>
                </a:solidFill>
                <a:latin typeface="Cambria" pitchFamily="34" charset="0"/>
                <a:ea typeface="Cambria" pitchFamily="34" charset="-122"/>
                <a:cs typeface="Cambria" pitchFamily="34" charset="-120"/>
              </a:rPr>
              <a:t>ACT</a:t>
            </a:r>
            <a:endParaRPr lang="en-US" sz="1100" dirty="0"/>
          </a:p>
        </p:txBody>
      </p:sp>
      <p:sp>
        <p:nvSpPr>
          <p:cNvPr id="20" name="Text 18"/>
          <p:cNvSpPr/>
          <p:nvPr/>
        </p:nvSpPr>
        <p:spPr>
          <a:xfrm>
            <a:off x="4718304" y="2267712"/>
            <a:ext cx="1719072" cy="960120"/>
          </a:xfrm>
          <a:prstGeom prst="rect">
            <a:avLst/>
          </a:prstGeom>
          <a:noFill/>
          <a:ln/>
        </p:spPr>
        <p:txBody>
          <a:bodyPr wrap="square" lIns="0" tIns="0" rIns="0" bIns="0" rtlCol="0" anchor="ctr"/>
          <a:lstStyle/>
          <a:p>
            <a:pPr algn="ctr" indent="0" marL="0">
              <a:buNone/>
            </a:pPr>
            <a:r>
              <a:rPr lang="en-US" sz="950" dirty="0">
                <a:solidFill>
                  <a:srgbClr val="AAAACC"/>
                </a:solidFill>
                <a:latin typeface="Calibri" pitchFamily="34" charset="0"/>
                <a:ea typeface="Calibri" pitchFamily="34" charset="-122"/>
                <a:cs typeface="Calibri" pitchFamily="34" charset="-120"/>
              </a:rPr>
              <a:t>Alerts trusted circle via WhatsApp/SMS. Pauses transfer. Initiates recovery flow autonomously.</a:t>
            </a:r>
            <a:endParaRPr lang="en-US" sz="950" dirty="0"/>
          </a:p>
        </p:txBody>
      </p:sp>
      <p:sp>
        <p:nvSpPr>
          <p:cNvPr id="21" name="Text 19"/>
          <p:cNvSpPr/>
          <p:nvPr/>
        </p:nvSpPr>
        <p:spPr>
          <a:xfrm>
            <a:off x="6574536" y="1755648"/>
            <a:ext cx="164592" cy="411480"/>
          </a:xfrm>
          <a:prstGeom prst="rect">
            <a:avLst/>
          </a:prstGeom>
          <a:noFill/>
          <a:ln/>
        </p:spPr>
        <p:txBody>
          <a:bodyPr wrap="square" lIns="0" tIns="0" rIns="0" bIns="0" rtlCol="0" anchor="ctr"/>
          <a:lstStyle/>
          <a:p>
            <a:pPr algn="ctr" indent="0" marL="0">
              <a:buNone/>
            </a:pPr>
            <a:r>
              <a:rPr lang="en-US" sz="1800" b="1" dirty="0">
                <a:solidFill>
                  <a:srgbClr val="9C7A3C"/>
                </a:solidFill>
              </a:rPr>
              <a:t>→</a:t>
            </a:r>
            <a:endParaRPr lang="en-US" sz="1800" dirty="0"/>
          </a:p>
        </p:txBody>
      </p:sp>
      <p:sp>
        <p:nvSpPr>
          <p:cNvPr id="22" name="Shape 20"/>
          <p:cNvSpPr/>
          <p:nvPr/>
        </p:nvSpPr>
        <p:spPr>
          <a:xfrm>
            <a:off x="6739128" y="1188720"/>
            <a:ext cx="1938528" cy="2148840"/>
          </a:xfrm>
          <a:prstGeom prst="roundRect">
            <a:avLst>
              <a:gd name="adj" fmla="val 5660"/>
            </a:avLst>
          </a:prstGeom>
          <a:solidFill>
            <a:srgbClr val="2B3F58"/>
          </a:solidFill>
          <a:ln w="12700">
            <a:solidFill>
              <a:srgbClr val="2B3F58"/>
            </a:solidFill>
            <a:prstDash val="solid"/>
          </a:ln>
        </p:spPr>
      </p:sp>
      <p:sp>
        <p:nvSpPr>
          <p:cNvPr id="23" name="Shape 21"/>
          <p:cNvSpPr/>
          <p:nvPr/>
        </p:nvSpPr>
        <p:spPr>
          <a:xfrm>
            <a:off x="7452360" y="1298448"/>
            <a:ext cx="512064" cy="512064"/>
          </a:xfrm>
          <a:prstGeom prst="ellipse">
            <a:avLst/>
          </a:prstGeom>
          <a:solidFill>
            <a:srgbClr val="9C7A3C"/>
          </a:solidFill>
          <a:ln w="12700">
            <a:solidFill>
              <a:srgbClr val="9C7A3C"/>
            </a:solidFill>
            <a:prstDash val="solid"/>
          </a:ln>
        </p:spPr>
      </p:sp>
      <p:sp>
        <p:nvSpPr>
          <p:cNvPr id="24" name="Text 22"/>
          <p:cNvSpPr/>
          <p:nvPr/>
        </p:nvSpPr>
        <p:spPr>
          <a:xfrm>
            <a:off x="7452360" y="129844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a:t>
            </a:r>
            <a:endParaRPr lang="en-US" sz="1800" dirty="0"/>
          </a:p>
        </p:txBody>
      </p:sp>
      <p:sp>
        <p:nvSpPr>
          <p:cNvPr id="25" name="Text 23"/>
          <p:cNvSpPr/>
          <p:nvPr/>
        </p:nvSpPr>
        <p:spPr>
          <a:xfrm>
            <a:off x="6739128" y="1901952"/>
            <a:ext cx="1938528" cy="320040"/>
          </a:xfrm>
          <a:prstGeom prst="rect">
            <a:avLst/>
          </a:prstGeom>
          <a:noFill/>
          <a:ln/>
        </p:spPr>
        <p:txBody>
          <a:bodyPr wrap="square" lIns="0" tIns="0" rIns="0" bIns="0" rtlCol="0" anchor="ctr"/>
          <a:lstStyle/>
          <a:p>
            <a:pPr algn="ctr" indent="0" marL="0">
              <a:buNone/>
            </a:pPr>
            <a:r>
              <a:rPr lang="en-US" sz="1100" b="1" dirty="0">
                <a:solidFill>
                  <a:srgbClr val="9C7A3C"/>
                </a:solidFill>
                <a:latin typeface="Cambria" pitchFamily="34" charset="0"/>
                <a:ea typeface="Cambria" pitchFamily="34" charset="-122"/>
                <a:cs typeface="Cambria" pitchFamily="34" charset="-120"/>
              </a:rPr>
              <a:t>LEARN</a:t>
            </a:r>
            <a:endParaRPr lang="en-US" sz="1100" dirty="0"/>
          </a:p>
        </p:txBody>
      </p:sp>
      <p:sp>
        <p:nvSpPr>
          <p:cNvPr id="26" name="Text 24"/>
          <p:cNvSpPr/>
          <p:nvPr/>
        </p:nvSpPr>
        <p:spPr>
          <a:xfrm>
            <a:off x="6848856" y="2267712"/>
            <a:ext cx="1719072" cy="960120"/>
          </a:xfrm>
          <a:prstGeom prst="rect">
            <a:avLst/>
          </a:prstGeom>
          <a:noFill/>
          <a:ln/>
        </p:spPr>
        <p:txBody>
          <a:bodyPr wrap="square" lIns="0" tIns="0" rIns="0" bIns="0" rtlCol="0" anchor="ctr"/>
          <a:lstStyle/>
          <a:p>
            <a:pPr algn="ctr" indent="0" marL="0">
              <a:buNone/>
            </a:pPr>
            <a:r>
              <a:rPr lang="en-US" sz="950" dirty="0">
                <a:solidFill>
                  <a:srgbClr val="AAAACC"/>
                </a:solidFill>
                <a:latin typeface="Calibri" pitchFamily="34" charset="0"/>
                <a:ea typeface="Calibri" pitchFamily="34" charset="-122"/>
                <a:cs typeface="Calibri" pitchFamily="34" charset="-120"/>
              </a:rPr>
              <a:t>Community scam pattern library grows with every flagged case, improving detection over time.</a:t>
            </a:r>
            <a:endParaRPr lang="en-US" sz="950" dirty="0"/>
          </a:p>
        </p:txBody>
      </p:sp>
      <p:sp>
        <p:nvSpPr>
          <p:cNvPr id="27" name="Text 25"/>
          <p:cNvSpPr/>
          <p:nvPr/>
        </p:nvSpPr>
        <p:spPr>
          <a:xfrm>
            <a:off x="502920" y="3493008"/>
            <a:ext cx="8229600" cy="274320"/>
          </a:xfrm>
          <a:prstGeom prst="rect">
            <a:avLst/>
          </a:prstGeom>
          <a:noFill/>
          <a:ln/>
        </p:spPr>
        <p:txBody>
          <a:bodyPr wrap="square" lIns="0" tIns="0" rIns="0" bIns="0" rtlCol="0" anchor="ctr"/>
          <a:lstStyle/>
          <a:p>
            <a:pPr algn="l" indent="0" marL="0">
              <a:buNone/>
            </a:pPr>
            <a:r>
              <a:rPr lang="en-US" sz="1000" b="1" spc="150" kern="0" dirty="0">
                <a:solidFill>
                  <a:srgbClr val="9AA6B2"/>
                </a:solidFill>
                <a:latin typeface="Calibri" pitchFamily="34" charset="0"/>
                <a:ea typeface="Calibri" pitchFamily="34" charset="-122"/>
                <a:cs typeface="Calibri" pitchFamily="34" charset="-120"/>
              </a:rPr>
              <a:t>PROTOTYPE TECH STACK</a:t>
            </a:r>
            <a:endParaRPr lang="en-US" sz="1000" dirty="0"/>
          </a:p>
        </p:txBody>
      </p:sp>
      <p:sp>
        <p:nvSpPr>
          <p:cNvPr id="28" name="Shape 26"/>
          <p:cNvSpPr/>
          <p:nvPr/>
        </p:nvSpPr>
        <p:spPr>
          <a:xfrm>
            <a:off x="347472" y="3840480"/>
            <a:ext cx="4160520" cy="320040"/>
          </a:xfrm>
          <a:prstGeom prst="roundRect">
            <a:avLst>
              <a:gd name="adj" fmla="val 20000"/>
            </a:avLst>
          </a:prstGeom>
          <a:solidFill>
            <a:srgbClr val="2B3F58"/>
          </a:solidFill>
          <a:ln w="12700">
            <a:solidFill>
              <a:srgbClr val="333366"/>
            </a:solidFill>
            <a:prstDash val="solid"/>
          </a:ln>
        </p:spPr>
      </p:sp>
      <p:sp>
        <p:nvSpPr>
          <p:cNvPr id="29" name="Text 27"/>
          <p:cNvSpPr/>
          <p:nvPr/>
        </p:nvSpPr>
        <p:spPr>
          <a:xfrm>
            <a:off x="457200" y="3867912"/>
            <a:ext cx="16459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WhatsApp Business API</a:t>
            </a:r>
            <a:endParaRPr lang="en-US" sz="900" dirty="0"/>
          </a:p>
        </p:txBody>
      </p:sp>
      <p:sp>
        <p:nvSpPr>
          <p:cNvPr id="30" name="Text 28"/>
          <p:cNvSpPr/>
          <p:nvPr/>
        </p:nvSpPr>
        <p:spPr>
          <a:xfrm>
            <a:off x="2130552" y="3867912"/>
            <a:ext cx="2286000" cy="256032"/>
          </a:xfrm>
          <a:prstGeom prst="rect">
            <a:avLst/>
          </a:prstGeom>
          <a:noFill/>
          <a:ln/>
        </p:spPr>
        <p:txBody>
          <a:bodyPr wrap="square" lIns="0" tIns="0" rIns="0" bIns="0" rtlCol="0" anchor="ctr"/>
          <a:lstStyle/>
          <a:p>
            <a:pPr indent="0" marL="0">
              <a:buNone/>
            </a:pPr>
            <a:r>
              <a:rPr lang="en-US" sz="900" dirty="0">
                <a:solidFill>
                  <a:srgbClr val="9AA6B2"/>
                </a:solidFill>
                <a:latin typeface="Calibri" pitchFamily="34" charset="0"/>
                <a:ea typeface="Calibri" pitchFamily="34" charset="-122"/>
                <a:cs typeface="Calibri" pitchFamily="34" charset="-120"/>
              </a:rPr>
              <a:t>User interface + trusted contact alerts</a:t>
            </a:r>
            <a:endParaRPr lang="en-US" sz="900" dirty="0"/>
          </a:p>
        </p:txBody>
      </p:sp>
      <p:sp>
        <p:nvSpPr>
          <p:cNvPr id="31" name="Shape 29"/>
          <p:cNvSpPr/>
          <p:nvPr/>
        </p:nvSpPr>
        <p:spPr>
          <a:xfrm>
            <a:off x="4800600" y="3840480"/>
            <a:ext cx="4160520" cy="320040"/>
          </a:xfrm>
          <a:prstGeom prst="roundRect">
            <a:avLst>
              <a:gd name="adj" fmla="val 20000"/>
            </a:avLst>
          </a:prstGeom>
          <a:solidFill>
            <a:srgbClr val="2B3F58"/>
          </a:solidFill>
          <a:ln w="12700">
            <a:solidFill>
              <a:srgbClr val="333366"/>
            </a:solidFill>
            <a:prstDash val="solid"/>
          </a:ln>
        </p:spPr>
      </p:sp>
      <p:sp>
        <p:nvSpPr>
          <p:cNvPr id="32" name="Text 30"/>
          <p:cNvSpPr/>
          <p:nvPr/>
        </p:nvSpPr>
        <p:spPr>
          <a:xfrm>
            <a:off x="4910328" y="3867912"/>
            <a:ext cx="16459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Anthropic Claude / Gemini</a:t>
            </a:r>
            <a:endParaRPr lang="en-US" sz="900" dirty="0"/>
          </a:p>
        </p:txBody>
      </p:sp>
      <p:sp>
        <p:nvSpPr>
          <p:cNvPr id="33" name="Text 31"/>
          <p:cNvSpPr/>
          <p:nvPr/>
        </p:nvSpPr>
        <p:spPr>
          <a:xfrm>
            <a:off x="6583680" y="3867912"/>
            <a:ext cx="2286000" cy="256032"/>
          </a:xfrm>
          <a:prstGeom prst="rect">
            <a:avLst/>
          </a:prstGeom>
          <a:noFill/>
          <a:ln/>
        </p:spPr>
        <p:txBody>
          <a:bodyPr wrap="square" lIns="0" tIns="0" rIns="0" bIns="0" rtlCol="0" anchor="ctr"/>
          <a:lstStyle/>
          <a:p>
            <a:pPr indent="0" marL="0">
              <a:buNone/>
            </a:pPr>
            <a:r>
              <a:rPr lang="en-US" sz="900" dirty="0">
                <a:solidFill>
                  <a:srgbClr val="9AA6B2"/>
                </a:solidFill>
                <a:latin typeface="Calibri" pitchFamily="34" charset="0"/>
                <a:ea typeface="Calibri" pitchFamily="34" charset="-122"/>
                <a:cs typeface="Calibri" pitchFamily="34" charset="-120"/>
              </a:rPr>
              <a:t>Conversational scam pattern detection</a:t>
            </a:r>
            <a:endParaRPr lang="en-US" sz="900" dirty="0"/>
          </a:p>
        </p:txBody>
      </p:sp>
      <p:sp>
        <p:nvSpPr>
          <p:cNvPr id="34" name="Shape 32"/>
          <p:cNvSpPr/>
          <p:nvPr/>
        </p:nvSpPr>
        <p:spPr>
          <a:xfrm>
            <a:off x="347472" y="4215384"/>
            <a:ext cx="4160520" cy="320040"/>
          </a:xfrm>
          <a:prstGeom prst="roundRect">
            <a:avLst>
              <a:gd name="adj" fmla="val 20000"/>
            </a:avLst>
          </a:prstGeom>
          <a:solidFill>
            <a:srgbClr val="2B3F58"/>
          </a:solidFill>
          <a:ln w="12700">
            <a:solidFill>
              <a:srgbClr val="333366"/>
            </a:solidFill>
            <a:prstDash val="solid"/>
          </a:ln>
        </p:spPr>
      </p:sp>
      <p:sp>
        <p:nvSpPr>
          <p:cNvPr id="35" name="Text 33"/>
          <p:cNvSpPr/>
          <p:nvPr/>
        </p:nvSpPr>
        <p:spPr>
          <a:xfrm>
            <a:off x="457200" y="4242816"/>
            <a:ext cx="16459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BHASHINI API</a:t>
            </a:r>
            <a:endParaRPr lang="en-US" sz="900" dirty="0"/>
          </a:p>
        </p:txBody>
      </p:sp>
      <p:sp>
        <p:nvSpPr>
          <p:cNvPr id="36" name="Text 34"/>
          <p:cNvSpPr/>
          <p:nvPr/>
        </p:nvSpPr>
        <p:spPr>
          <a:xfrm>
            <a:off x="2130552" y="4242816"/>
            <a:ext cx="2286000" cy="256032"/>
          </a:xfrm>
          <a:prstGeom prst="rect">
            <a:avLst/>
          </a:prstGeom>
          <a:noFill/>
          <a:ln/>
        </p:spPr>
        <p:txBody>
          <a:bodyPr wrap="square" lIns="0" tIns="0" rIns="0" bIns="0" rtlCol="0" anchor="ctr"/>
          <a:lstStyle/>
          <a:p>
            <a:pPr indent="0" marL="0">
              <a:buNone/>
            </a:pPr>
            <a:r>
              <a:rPr lang="en-US" sz="900" dirty="0">
                <a:solidFill>
                  <a:srgbClr val="9AA6B2"/>
                </a:solidFill>
                <a:latin typeface="Calibri" pitchFamily="34" charset="0"/>
                <a:ea typeface="Calibri" pitchFamily="34" charset="-122"/>
                <a:cs typeface="Calibri" pitchFamily="34" charset="-120"/>
              </a:rPr>
              <a:t>Hindi, Telugu, Tamil, Bengali — voice + text</a:t>
            </a:r>
            <a:endParaRPr lang="en-US" sz="900" dirty="0"/>
          </a:p>
        </p:txBody>
      </p:sp>
      <p:sp>
        <p:nvSpPr>
          <p:cNvPr id="37" name="Shape 35"/>
          <p:cNvSpPr/>
          <p:nvPr/>
        </p:nvSpPr>
        <p:spPr>
          <a:xfrm>
            <a:off x="4800600" y="4215384"/>
            <a:ext cx="4160520" cy="320040"/>
          </a:xfrm>
          <a:prstGeom prst="roundRect">
            <a:avLst>
              <a:gd name="adj" fmla="val 20000"/>
            </a:avLst>
          </a:prstGeom>
          <a:solidFill>
            <a:srgbClr val="2B3F58"/>
          </a:solidFill>
          <a:ln w="12700">
            <a:solidFill>
              <a:srgbClr val="333366"/>
            </a:solidFill>
            <a:prstDash val="solid"/>
          </a:ln>
        </p:spPr>
      </p:sp>
      <p:sp>
        <p:nvSpPr>
          <p:cNvPr id="38" name="Text 36"/>
          <p:cNvSpPr/>
          <p:nvPr/>
        </p:nvSpPr>
        <p:spPr>
          <a:xfrm>
            <a:off x="4910328" y="4242816"/>
            <a:ext cx="16459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Twilio SMS API</a:t>
            </a:r>
            <a:endParaRPr lang="en-US" sz="900" dirty="0"/>
          </a:p>
        </p:txBody>
      </p:sp>
      <p:sp>
        <p:nvSpPr>
          <p:cNvPr id="39" name="Text 37"/>
          <p:cNvSpPr/>
          <p:nvPr/>
        </p:nvSpPr>
        <p:spPr>
          <a:xfrm>
            <a:off x="6583680" y="4242816"/>
            <a:ext cx="2286000" cy="256032"/>
          </a:xfrm>
          <a:prstGeom prst="rect">
            <a:avLst/>
          </a:prstGeom>
          <a:noFill/>
          <a:ln/>
        </p:spPr>
        <p:txBody>
          <a:bodyPr wrap="square" lIns="0" tIns="0" rIns="0" bIns="0" rtlCol="0" anchor="ctr"/>
          <a:lstStyle/>
          <a:p>
            <a:pPr indent="0" marL="0">
              <a:buNone/>
            </a:pPr>
            <a:r>
              <a:rPr lang="en-US" sz="900" dirty="0">
                <a:solidFill>
                  <a:srgbClr val="9AA6B2"/>
                </a:solidFill>
                <a:latin typeface="Calibri" pitchFamily="34" charset="0"/>
                <a:ea typeface="Calibri" pitchFamily="34" charset="-122"/>
                <a:cs typeface="Calibri" pitchFamily="34" charset="-120"/>
              </a:rPr>
              <a:t>Trusted circle emergency notifications</a:t>
            </a:r>
            <a:endParaRPr lang="en-US" sz="900" dirty="0"/>
          </a:p>
        </p:txBody>
      </p:sp>
      <p:sp>
        <p:nvSpPr>
          <p:cNvPr id="40" name="Shape 38"/>
          <p:cNvSpPr/>
          <p:nvPr/>
        </p:nvSpPr>
        <p:spPr>
          <a:xfrm>
            <a:off x="347472" y="4590288"/>
            <a:ext cx="4160520" cy="320040"/>
          </a:xfrm>
          <a:prstGeom prst="roundRect">
            <a:avLst>
              <a:gd name="adj" fmla="val 20000"/>
            </a:avLst>
          </a:prstGeom>
          <a:solidFill>
            <a:srgbClr val="2B3F58"/>
          </a:solidFill>
          <a:ln w="12700">
            <a:solidFill>
              <a:srgbClr val="333366"/>
            </a:solidFill>
            <a:prstDash val="solid"/>
          </a:ln>
        </p:spPr>
      </p:sp>
      <p:sp>
        <p:nvSpPr>
          <p:cNvPr id="41" name="Text 39"/>
          <p:cNvSpPr/>
          <p:nvPr/>
        </p:nvSpPr>
        <p:spPr>
          <a:xfrm>
            <a:off x="457200" y="4617720"/>
            <a:ext cx="16459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UPI Intent Hook</a:t>
            </a:r>
            <a:endParaRPr lang="en-US" sz="900" dirty="0"/>
          </a:p>
        </p:txBody>
      </p:sp>
      <p:sp>
        <p:nvSpPr>
          <p:cNvPr id="42" name="Text 40"/>
          <p:cNvSpPr/>
          <p:nvPr/>
        </p:nvSpPr>
        <p:spPr>
          <a:xfrm>
            <a:off x="2130552" y="4617720"/>
            <a:ext cx="2286000" cy="256032"/>
          </a:xfrm>
          <a:prstGeom prst="rect">
            <a:avLst/>
          </a:prstGeom>
          <a:noFill/>
          <a:ln/>
        </p:spPr>
        <p:txBody>
          <a:bodyPr wrap="square" lIns="0" tIns="0" rIns="0" bIns="0" rtlCol="0" anchor="ctr"/>
          <a:lstStyle/>
          <a:p>
            <a:pPr indent="0" marL="0">
              <a:buNone/>
            </a:pPr>
            <a:r>
              <a:rPr lang="en-US" sz="900" dirty="0">
                <a:solidFill>
                  <a:srgbClr val="9AA6B2"/>
                </a:solidFill>
                <a:latin typeface="Calibri" pitchFamily="34" charset="0"/>
                <a:ea typeface="Calibri" pitchFamily="34" charset="-122"/>
                <a:cs typeface="Calibri" pitchFamily="34" charset="-120"/>
              </a:rPr>
              <a:t>Simulated payment interception layer (demo)</a:t>
            </a:r>
            <a:endParaRPr lang="en-US" sz="900" dirty="0"/>
          </a:p>
        </p:txBody>
      </p:sp>
      <p:sp>
        <p:nvSpPr>
          <p:cNvPr id="43" name="Shape 41"/>
          <p:cNvSpPr/>
          <p:nvPr/>
        </p:nvSpPr>
        <p:spPr>
          <a:xfrm>
            <a:off x="4800600" y="4590288"/>
            <a:ext cx="4160520" cy="320040"/>
          </a:xfrm>
          <a:prstGeom prst="roundRect">
            <a:avLst>
              <a:gd name="adj" fmla="val 20000"/>
            </a:avLst>
          </a:prstGeom>
          <a:solidFill>
            <a:srgbClr val="2B3F58"/>
          </a:solidFill>
          <a:ln w="12700">
            <a:solidFill>
              <a:srgbClr val="333366"/>
            </a:solidFill>
            <a:prstDash val="solid"/>
          </a:ln>
        </p:spPr>
      </p:sp>
      <p:sp>
        <p:nvSpPr>
          <p:cNvPr id="44" name="Text 42"/>
          <p:cNvSpPr/>
          <p:nvPr/>
        </p:nvSpPr>
        <p:spPr>
          <a:xfrm>
            <a:off x="4910328" y="4617720"/>
            <a:ext cx="164592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I4C Public Data</a:t>
            </a:r>
            <a:endParaRPr lang="en-US" sz="900" dirty="0"/>
          </a:p>
        </p:txBody>
      </p:sp>
      <p:sp>
        <p:nvSpPr>
          <p:cNvPr id="45" name="Text 43"/>
          <p:cNvSpPr/>
          <p:nvPr/>
        </p:nvSpPr>
        <p:spPr>
          <a:xfrm>
            <a:off x="6583680" y="4617720"/>
            <a:ext cx="2286000" cy="256032"/>
          </a:xfrm>
          <a:prstGeom prst="rect">
            <a:avLst/>
          </a:prstGeom>
          <a:noFill/>
          <a:ln/>
        </p:spPr>
        <p:txBody>
          <a:bodyPr wrap="square" lIns="0" tIns="0" rIns="0" bIns="0" rtlCol="0" anchor="ctr"/>
          <a:lstStyle/>
          <a:p>
            <a:pPr indent="0" marL="0">
              <a:buNone/>
            </a:pPr>
            <a:r>
              <a:rPr lang="en-US" sz="900" dirty="0">
                <a:solidFill>
                  <a:srgbClr val="9AA6B2"/>
                </a:solidFill>
                <a:latin typeface="Calibri" pitchFamily="34" charset="0"/>
                <a:ea typeface="Calibri" pitchFamily="34" charset="-122"/>
                <a:cs typeface="Calibri" pitchFamily="34" charset="-120"/>
              </a:rPr>
              <a:t>Scam pattern library — no proprietary data needed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1"/>
          </a:solidFill>
          <a:ln w="12700">
            <a:solidFill>
              <a:srgbClr val="1B2A41"/>
            </a:solidFill>
            <a:prstDash val="solid"/>
          </a:ln>
        </p:spPr>
      </p:sp>
      <p:sp>
        <p:nvSpPr>
          <p:cNvPr id="3" name="Text 1"/>
          <p:cNvSpPr/>
          <p:nvPr/>
        </p:nvSpPr>
        <p:spPr>
          <a:xfrm>
            <a:off x="502920" y="91440"/>
            <a:ext cx="3657600" cy="41148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IMPACT</a:t>
            </a:r>
            <a:endParaRPr lang="en-US" sz="2200" dirty="0"/>
          </a:p>
        </p:txBody>
      </p:sp>
      <p:sp>
        <p:nvSpPr>
          <p:cNvPr id="4" name="Text 2"/>
          <p:cNvSpPr/>
          <p:nvPr/>
        </p:nvSpPr>
        <p:spPr>
          <a:xfrm>
            <a:off x="502920" y="530352"/>
            <a:ext cx="6400800" cy="320040"/>
          </a:xfrm>
          <a:prstGeom prst="rect">
            <a:avLst/>
          </a:prstGeom>
          <a:noFill/>
          <a:ln/>
        </p:spPr>
        <p:txBody>
          <a:bodyPr wrap="square" lIns="0" tIns="0" rIns="0" bIns="0" rtlCol="0" anchor="ctr"/>
          <a:lstStyle/>
          <a:p>
            <a:pPr algn="l" indent="0" marL="0">
              <a:buNone/>
            </a:pPr>
            <a:r>
              <a:rPr lang="en-US" sz="1150" dirty="0">
                <a:solidFill>
                  <a:srgbClr val="9AA6B2"/>
                </a:solidFill>
                <a:latin typeface="Calibri" pitchFamily="34" charset="0"/>
                <a:ea typeface="Calibri" pitchFamily="34" charset="-122"/>
                <a:cs typeface="Calibri" pitchFamily="34" charset="-120"/>
              </a:rPr>
              <a:t>Who we protect and how big this gets</a:t>
            </a:r>
            <a:endParaRPr lang="en-US" sz="1150" dirty="0"/>
          </a:p>
        </p:txBody>
      </p:sp>
      <p:sp>
        <p:nvSpPr>
          <p:cNvPr id="5" name="Shape 3"/>
          <p:cNvSpPr/>
          <p:nvPr/>
        </p:nvSpPr>
        <p:spPr>
          <a:xfrm>
            <a:off x="347472" y="1097280"/>
            <a:ext cx="2578608" cy="1691640"/>
          </a:xfrm>
          <a:prstGeom prst="roundRect">
            <a:avLst>
              <a:gd name="adj" fmla="val 6486"/>
            </a:avLst>
          </a:prstGeom>
          <a:solidFill>
            <a:srgbClr val="FFFFFF"/>
          </a:solidFill>
          <a:ln w="12700">
            <a:solidFill>
              <a:srgbClr val="E0E0F0"/>
            </a:solidFill>
            <a:prstDash val="solid"/>
          </a:ln>
          <a:effectLst>
            <a:outerShdw sx="100000" sy="100000" kx="0" ky="0" algn="bl" rotWithShape="0" blurRad="127000" dist="38100" dir="5400000">
              <a:srgbClr val="000000">
                <a:alpha val="7000"/>
              </a:srgbClr>
            </a:outerShdw>
          </a:effectLst>
        </p:spPr>
      </p:sp>
      <p:sp>
        <p:nvSpPr>
          <p:cNvPr id="6" name="Shape 4"/>
          <p:cNvSpPr/>
          <p:nvPr/>
        </p:nvSpPr>
        <p:spPr>
          <a:xfrm>
            <a:off x="347472" y="1097280"/>
            <a:ext cx="2578608" cy="146304"/>
          </a:xfrm>
          <a:prstGeom prst="rect">
            <a:avLst/>
          </a:prstGeom>
          <a:solidFill>
            <a:srgbClr val="9C7A3C"/>
          </a:solidFill>
          <a:ln w="12700">
            <a:solidFill>
              <a:srgbClr val="9C7A3C"/>
            </a:solidFill>
            <a:prstDash val="solid"/>
          </a:ln>
        </p:spPr>
      </p:sp>
      <p:sp>
        <p:nvSpPr>
          <p:cNvPr id="7" name="Text 5"/>
          <p:cNvSpPr/>
          <p:nvPr/>
        </p:nvSpPr>
        <p:spPr>
          <a:xfrm>
            <a:off x="347472" y="1298448"/>
            <a:ext cx="2578608" cy="658368"/>
          </a:xfrm>
          <a:prstGeom prst="rect">
            <a:avLst/>
          </a:prstGeom>
          <a:noFill/>
          <a:ln/>
        </p:spPr>
        <p:txBody>
          <a:bodyPr wrap="square" lIns="0" tIns="0" rIns="0" bIns="0" rtlCol="0" anchor="ctr"/>
          <a:lstStyle/>
          <a:p>
            <a:pPr algn="ctr" indent="0" marL="0">
              <a:buNone/>
            </a:pPr>
            <a:r>
              <a:rPr lang="en-US" sz="3400" b="1" dirty="0">
                <a:solidFill>
                  <a:srgbClr val="1B2A41"/>
                </a:solidFill>
                <a:latin typeface="Cambria" pitchFamily="34" charset="0"/>
                <a:ea typeface="Cambria" pitchFamily="34" charset="-122"/>
                <a:cs typeface="Cambria" pitchFamily="34" charset="-120"/>
              </a:rPr>
              <a:t>500M+</a:t>
            </a:r>
            <a:endParaRPr lang="en-US" sz="3400" dirty="0"/>
          </a:p>
        </p:txBody>
      </p:sp>
      <p:sp>
        <p:nvSpPr>
          <p:cNvPr id="8" name="Text 6"/>
          <p:cNvSpPr/>
          <p:nvPr/>
        </p:nvSpPr>
        <p:spPr>
          <a:xfrm>
            <a:off x="347472" y="1993392"/>
            <a:ext cx="2578608" cy="658368"/>
          </a:xfrm>
          <a:prstGeom prst="rect">
            <a:avLst/>
          </a:prstGeom>
          <a:noFill/>
          <a:ln/>
        </p:spPr>
        <p:txBody>
          <a:bodyPr wrap="square" lIns="0" tIns="0" rIns="0" bIns="0" rtlCol="0" anchor="ctr"/>
          <a:lstStyle/>
          <a:p>
            <a:pPr algn="ctr" indent="0" marL="0">
              <a:buNone/>
            </a:pPr>
            <a:r>
              <a:rPr lang="en-US" sz="1050" dirty="0">
                <a:solidFill>
                  <a:srgbClr val="4D5A6B"/>
                </a:solidFill>
                <a:latin typeface="Calibri" pitchFamily="34" charset="0"/>
                <a:ea typeface="Calibri" pitchFamily="34" charset="-122"/>
                <a:cs typeface="Calibri" pitchFamily="34" charset="-120"/>
              </a:rPr>
              <a:t>UPI users — Kavach's</a:t>
            </a:r>
            <a:endParaRPr lang="en-US" sz="1050" dirty="0"/>
          </a:p>
          <a:p>
            <a:pPr algn="ctr" indent="0" marL="0">
              <a:buNone/>
            </a:pPr>
            <a:r>
              <a:rPr lang="en-US" sz="1050" dirty="0">
                <a:solidFill>
                  <a:srgbClr val="4D5A6B"/>
                </a:solidFill>
                <a:latin typeface="Calibri" pitchFamily="34" charset="0"/>
                <a:ea typeface="Calibri" pitchFamily="34" charset="-122"/>
                <a:cs typeface="Calibri" pitchFamily="34" charset="-120"/>
              </a:rPr>
              <a:t>addressable reach</a:t>
            </a:r>
            <a:endParaRPr lang="en-US" sz="1050" dirty="0"/>
          </a:p>
        </p:txBody>
      </p:sp>
      <p:sp>
        <p:nvSpPr>
          <p:cNvPr id="9" name="Shape 7"/>
          <p:cNvSpPr/>
          <p:nvPr/>
        </p:nvSpPr>
        <p:spPr>
          <a:xfrm>
            <a:off x="3182112" y="1097280"/>
            <a:ext cx="2578608" cy="1691640"/>
          </a:xfrm>
          <a:prstGeom prst="roundRect">
            <a:avLst>
              <a:gd name="adj" fmla="val 6486"/>
            </a:avLst>
          </a:prstGeom>
          <a:solidFill>
            <a:srgbClr val="FFFFFF"/>
          </a:solidFill>
          <a:ln w="12700">
            <a:solidFill>
              <a:srgbClr val="E0E0F0"/>
            </a:solidFill>
            <a:prstDash val="solid"/>
          </a:ln>
          <a:effectLst>
            <a:outerShdw sx="100000" sy="100000" kx="0" ky="0" algn="bl" rotWithShape="0" blurRad="127000" dist="38100" dir="5400000">
              <a:srgbClr val="000000">
                <a:alpha val="7000"/>
              </a:srgbClr>
            </a:outerShdw>
          </a:effectLst>
        </p:spPr>
      </p:sp>
      <p:sp>
        <p:nvSpPr>
          <p:cNvPr id="10" name="Shape 8"/>
          <p:cNvSpPr/>
          <p:nvPr/>
        </p:nvSpPr>
        <p:spPr>
          <a:xfrm>
            <a:off x="3182112" y="1097280"/>
            <a:ext cx="2578608" cy="146304"/>
          </a:xfrm>
          <a:prstGeom prst="rect">
            <a:avLst/>
          </a:prstGeom>
          <a:solidFill>
            <a:srgbClr val="9C7A3C"/>
          </a:solidFill>
          <a:ln w="12700">
            <a:solidFill>
              <a:srgbClr val="9C7A3C"/>
            </a:solidFill>
            <a:prstDash val="solid"/>
          </a:ln>
        </p:spPr>
      </p:sp>
      <p:sp>
        <p:nvSpPr>
          <p:cNvPr id="11" name="Text 9"/>
          <p:cNvSpPr/>
          <p:nvPr/>
        </p:nvSpPr>
        <p:spPr>
          <a:xfrm>
            <a:off x="3182112" y="1298448"/>
            <a:ext cx="2578608" cy="658368"/>
          </a:xfrm>
          <a:prstGeom prst="rect">
            <a:avLst/>
          </a:prstGeom>
          <a:noFill/>
          <a:ln/>
        </p:spPr>
        <p:txBody>
          <a:bodyPr wrap="square" lIns="0" tIns="0" rIns="0" bIns="0" rtlCol="0" anchor="ctr"/>
          <a:lstStyle/>
          <a:p>
            <a:pPr algn="ctr" indent="0" marL="0">
              <a:buNone/>
            </a:pPr>
            <a:r>
              <a:rPr lang="en-US" sz="3400" b="1" dirty="0">
                <a:solidFill>
                  <a:srgbClr val="1B2A41"/>
                </a:solidFill>
                <a:latin typeface="Cambria" pitchFamily="34" charset="0"/>
                <a:ea typeface="Cambria" pitchFamily="34" charset="-122"/>
                <a:cs typeface="Cambria" pitchFamily="34" charset="-120"/>
              </a:rPr>
              <a:t>~₹3,000 Cr</a:t>
            </a:r>
            <a:endParaRPr lang="en-US" sz="3400" dirty="0"/>
          </a:p>
        </p:txBody>
      </p:sp>
      <p:sp>
        <p:nvSpPr>
          <p:cNvPr id="12" name="Text 10"/>
          <p:cNvSpPr/>
          <p:nvPr/>
        </p:nvSpPr>
        <p:spPr>
          <a:xfrm>
            <a:off x="3182112" y="1993392"/>
            <a:ext cx="2578608" cy="658368"/>
          </a:xfrm>
          <a:prstGeom prst="rect">
            <a:avLst/>
          </a:prstGeom>
          <a:noFill/>
          <a:ln/>
        </p:spPr>
        <p:txBody>
          <a:bodyPr wrap="square" lIns="0" tIns="0" rIns="0" bIns="0" rtlCol="0" anchor="ctr"/>
          <a:lstStyle/>
          <a:p>
            <a:pPr algn="ctr" indent="0" marL="0">
              <a:buNone/>
            </a:pPr>
            <a:r>
              <a:rPr lang="en-US" sz="1050" dirty="0">
                <a:solidFill>
                  <a:srgbClr val="4D5A6B"/>
                </a:solidFill>
                <a:latin typeface="Calibri" pitchFamily="34" charset="0"/>
                <a:ea typeface="Calibri" pitchFamily="34" charset="-122"/>
                <a:cs typeface="Calibri" pitchFamily="34" charset="-120"/>
              </a:rPr>
              <a:t>Digital arrest losses</a:t>
            </a:r>
            <a:endParaRPr lang="en-US" sz="1050" dirty="0"/>
          </a:p>
          <a:p>
            <a:pPr algn="ctr" indent="0" marL="0">
              <a:buNone/>
            </a:pPr>
            <a:r>
              <a:rPr lang="en-US" sz="1050" dirty="0">
                <a:solidFill>
                  <a:srgbClr val="4D5A6B"/>
                </a:solidFill>
                <a:latin typeface="Calibri" pitchFamily="34" charset="0"/>
                <a:ea typeface="Calibri" pitchFamily="34" charset="-122"/>
                <a:cs typeface="Calibri" pitchFamily="34" charset="-120"/>
              </a:rPr>
              <a:t>per year — directly targeted</a:t>
            </a:r>
            <a:endParaRPr lang="en-US" sz="1050" dirty="0"/>
          </a:p>
        </p:txBody>
      </p:sp>
      <p:sp>
        <p:nvSpPr>
          <p:cNvPr id="13" name="Shape 11"/>
          <p:cNvSpPr/>
          <p:nvPr/>
        </p:nvSpPr>
        <p:spPr>
          <a:xfrm>
            <a:off x="6016752" y="1097280"/>
            <a:ext cx="2578608" cy="1691640"/>
          </a:xfrm>
          <a:prstGeom prst="roundRect">
            <a:avLst>
              <a:gd name="adj" fmla="val 6486"/>
            </a:avLst>
          </a:prstGeom>
          <a:solidFill>
            <a:srgbClr val="FFFFFF"/>
          </a:solidFill>
          <a:ln w="12700">
            <a:solidFill>
              <a:srgbClr val="E0E0F0"/>
            </a:solidFill>
            <a:prstDash val="solid"/>
          </a:ln>
          <a:effectLst>
            <a:outerShdw sx="100000" sy="100000" kx="0" ky="0" algn="bl" rotWithShape="0" blurRad="127000" dist="38100" dir="5400000">
              <a:srgbClr val="000000">
                <a:alpha val="7000"/>
              </a:srgbClr>
            </a:outerShdw>
          </a:effectLst>
        </p:spPr>
      </p:sp>
      <p:sp>
        <p:nvSpPr>
          <p:cNvPr id="14" name="Shape 12"/>
          <p:cNvSpPr/>
          <p:nvPr/>
        </p:nvSpPr>
        <p:spPr>
          <a:xfrm>
            <a:off x="6016752" y="1097280"/>
            <a:ext cx="2578608" cy="146304"/>
          </a:xfrm>
          <a:prstGeom prst="rect">
            <a:avLst/>
          </a:prstGeom>
          <a:solidFill>
            <a:srgbClr val="9C7A3C"/>
          </a:solidFill>
          <a:ln w="12700">
            <a:solidFill>
              <a:srgbClr val="9C7A3C"/>
            </a:solidFill>
            <a:prstDash val="solid"/>
          </a:ln>
        </p:spPr>
      </p:sp>
      <p:sp>
        <p:nvSpPr>
          <p:cNvPr id="15" name="Text 13"/>
          <p:cNvSpPr/>
          <p:nvPr/>
        </p:nvSpPr>
        <p:spPr>
          <a:xfrm>
            <a:off x="6016752" y="1298448"/>
            <a:ext cx="2578608" cy="658368"/>
          </a:xfrm>
          <a:prstGeom prst="rect">
            <a:avLst/>
          </a:prstGeom>
          <a:noFill/>
          <a:ln/>
        </p:spPr>
        <p:txBody>
          <a:bodyPr wrap="square" lIns="0" tIns="0" rIns="0" bIns="0" rtlCol="0" anchor="ctr"/>
          <a:lstStyle/>
          <a:p>
            <a:pPr algn="ctr" indent="0" marL="0">
              <a:buNone/>
            </a:pPr>
            <a:r>
              <a:rPr lang="en-US" sz="3400" b="1" dirty="0">
                <a:solidFill>
                  <a:srgbClr val="1B2A41"/>
                </a:solidFill>
                <a:latin typeface="Cambria" pitchFamily="34" charset="0"/>
                <a:ea typeface="Cambria" pitchFamily="34" charset="-122"/>
                <a:cs typeface="Cambria" pitchFamily="34" charset="-120"/>
              </a:rPr>
              <a:t>83%</a:t>
            </a:r>
            <a:endParaRPr lang="en-US" sz="3400" dirty="0"/>
          </a:p>
        </p:txBody>
      </p:sp>
      <p:sp>
        <p:nvSpPr>
          <p:cNvPr id="16" name="Text 14"/>
          <p:cNvSpPr/>
          <p:nvPr/>
        </p:nvSpPr>
        <p:spPr>
          <a:xfrm>
            <a:off x="6016752" y="1993392"/>
            <a:ext cx="2578608" cy="658368"/>
          </a:xfrm>
          <a:prstGeom prst="rect">
            <a:avLst/>
          </a:prstGeom>
          <a:noFill/>
          <a:ln/>
        </p:spPr>
        <p:txBody>
          <a:bodyPr wrap="square" lIns="0" tIns="0" rIns="0" bIns="0" rtlCol="0" anchor="ctr"/>
          <a:lstStyle/>
          <a:p>
            <a:pPr algn="ctr" indent="0" marL="0">
              <a:buNone/>
            </a:pPr>
            <a:r>
              <a:rPr lang="en-US" sz="1050" dirty="0">
                <a:solidFill>
                  <a:srgbClr val="4D5A6B"/>
                </a:solidFill>
                <a:latin typeface="Calibri" pitchFamily="34" charset="0"/>
                <a:ea typeface="Calibri" pitchFamily="34" charset="-122"/>
                <a:cs typeface="Calibri" pitchFamily="34" charset="-120"/>
              </a:rPr>
              <a:t>Victims who never</a:t>
            </a:r>
            <a:endParaRPr lang="en-US" sz="1050" dirty="0"/>
          </a:p>
          <a:p>
            <a:pPr algn="ctr" indent="0" marL="0">
              <a:buNone/>
            </a:pPr>
            <a:r>
              <a:rPr lang="en-US" sz="1050" dirty="0">
                <a:solidFill>
                  <a:srgbClr val="4D5A6B"/>
                </a:solidFill>
                <a:latin typeface="Calibri" pitchFamily="34" charset="0"/>
                <a:ea typeface="Calibri" pitchFamily="34" charset="-122"/>
                <a:cs typeface="Calibri" pitchFamily="34" charset="-120"/>
              </a:rPr>
              <a:t>suspected they were scammed</a:t>
            </a:r>
            <a:endParaRPr lang="en-US" sz="1050" dirty="0"/>
          </a:p>
        </p:txBody>
      </p:sp>
      <p:sp>
        <p:nvSpPr>
          <p:cNvPr id="17" name="Shape 15"/>
          <p:cNvSpPr/>
          <p:nvPr/>
        </p:nvSpPr>
        <p:spPr>
          <a:xfrm>
            <a:off x="347472" y="2926080"/>
            <a:ext cx="8449056" cy="987552"/>
          </a:xfrm>
          <a:prstGeom prst="roundRect">
            <a:avLst>
              <a:gd name="adj" fmla="val 11111"/>
            </a:avLst>
          </a:prstGeom>
          <a:solidFill>
            <a:srgbClr val="F4F0E6"/>
          </a:solidFill>
          <a:ln w="12700">
            <a:solidFill>
              <a:srgbClr val="D8C8A0"/>
            </a:solidFill>
            <a:prstDash val="solid"/>
          </a:ln>
        </p:spPr>
      </p:sp>
      <p:sp>
        <p:nvSpPr>
          <p:cNvPr id="18" name="Text 16"/>
          <p:cNvSpPr/>
          <p:nvPr/>
        </p:nvSpPr>
        <p:spPr>
          <a:xfrm>
            <a:off x="566928" y="3035808"/>
            <a:ext cx="7955280" cy="32004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Why Women in Bharat are the priority demographic</a:t>
            </a:r>
            <a:endParaRPr lang="en-US" sz="1250" dirty="0"/>
          </a:p>
        </p:txBody>
      </p:sp>
      <p:sp>
        <p:nvSpPr>
          <p:cNvPr id="19" name="Text 17"/>
          <p:cNvSpPr/>
          <p:nvPr/>
        </p:nvSpPr>
        <p:spPr>
          <a:xfrm>
            <a:off x="566928" y="3383280"/>
            <a:ext cx="7955280" cy="457200"/>
          </a:xfrm>
          <a:prstGeom prst="rect">
            <a:avLst/>
          </a:prstGeom>
          <a:noFill/>
          <a:ln/>
        </p:spPr>
        <p:txBody>
          <a:bodyPr wrap="square" lIns="0" tIns="0" rIns="0" bIns="0" rtlCol="0" anchor="ctr"/>
          <a:lstStyle/>
          <a:p>
            <a:pPr indent="0" marL="0">
              <a:buNone/>
            </a:pPr>
            <a:r>
              <a:rPr lang="en-US" sz="1050" dirty="0">
                <a:solidFill>
                  <a:srgbClr val="4D5A6B"/>
                </a:solidFill>
                <a:latin typeface="Calibri" pitchFamily="34" charset="0"/>
                <a:ea typeface="Calibri" pitchFamily="34" charset="-122"/>
                <a:cs typeface="Calibri" pitchFamily="34" charset="-120"/>
              </a:rPr>
              <a:t>Women in Bharat are disproportionately targeted — lower digital literacy, greater trust in authority, and lower likelihood of reporting fraud. Kavach's conversational AI in local languages directly lowers the barrier to intervention and reporting for this demographic, aligning closely with the ScriptedBy{Her} mandate.</a:t>
            </a:r>
            <a:endParaRPr lang="en-US" sz="1050" dirty="0"/>
          </a:p>
        </p:txBody>
      </p:sp>
      <p:sp>
        <p:nvSpPr>
          <p:cNvPr id="20" name="Shape 18"/>
          <p:cNvSpPr/>
          <p:nvPr/>
        </p:nvSpPr>
        <p:spPr>
          <a:xfrm>
            <a:off x="347472" y="4041648"/>
            <a:ext cx="8449056" cy="804672"/>
          </a:xfrm>
          <a:prstGeom prst="roundRect">
            <a:avLst>
              <a:gd name="adj" fmla="val 13636"/>
            </a:avLst>
          </a:prstGeom>
          <a:solidFill>
            <a:srgbClr val="1B2A41"/>
          </a:solidFill>
          <a:ln w="12700">
            <a:solidFill>
              <a:srgbClr val="1B2A41"/>
            </a:solidFill>
            <a:prstDash val="solid"/>
          </a:ln>
        </p:spPr>
      </p:sp>
      <p:sp>
        <p:nvSpPr>
          <p:cNvPr id="21" name="Text 19"/>
          <p:cNvSpPr/>
          <p:nvPr/>
        </p:nvSpPr>
        <p:spPr>
          <a:xfrm>
            <a:off x="566928" y="4133088"/>
            <a:ext cx="7955280" cy="640080"/>
          </a:xfrm>
          <a:prstGeom prst="rect">
            <a:avLst/>
          </a:prstGeom>
          <a:noFill/>
          <a:ln/>
        </p:spPr>
        <p:txBody>
          <a:bodyPr wrap="square" lIns="0" tIns="0" rIns="0" bIns="0" rtlCol="0" anchor="ctr"/>
          <a:lstStyle/>
          <a:p>
            <a:pPr indent="0" marL="0">
              <a:buNone/>
            </a:pPr>
            <a:r>
              <a:rPr lang="en-US" sz="1100" dirty="0">
                <a:solidFill>
                  <a:srgbClr val="CCCCDD"/>
                </a:solidFill>
                <a:latin typeface="Calibri" pitchFamily="34" charset="0"/>
                <a:ea typeface="Calibri" pitchFamily="34" charset="-122"/>
                <a:cs typeface="Calibri" pitchFamily="34" charset="-120"/>
              </a:rPr>
              <a:t>Meesho alignment: Kavach protects the same first-time digital commerce users who are Meesho's core — sellers and buyers from Tier-2/3 India who are most vulnerable to digital arrest scams and UPI fraud.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1"/>
          </a:solidFill>
          <a:ln w="12700">
            <a:solidFill>
              <a:srgbClr val="1B2A41"/>
            </a:solidFill>
            <a:prstDash val="solid"/>
          </a:ln>
        </p:spPr>
      </p:sp>
      <p:sp>
        <p:nvSpPr>
          <p:cNvPr id="3" name="Text 1"/>
          <p:cNvSpPr/>
          <p:nvPr/>
        </p:nvSpPr>
        <p:spPr>
          <a:xfrm>
            <a:off x="502920" y="91440"/>
            <a:ext cx="4572000" cy="41148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PROTOTYPE PLAN</a:t>
            </a:r>
            <a:endParaRPr lang="en-US" sz="2200" dirty="0"/>
          </a:p>
        </p:txBody>
      </p:sp>
      <p:sp>
        <p:nvSpPr>
          <p:cNvPr id="4" name="Text 2"/>
          <p:cNvSpPr/>
          <p:nvPr/>
        </p:nvSpPr>
        <p:spPr>
          <a:xfrm>
            <a:off x="502920" y="530352"/>
            <a:ext cx="6400800" cy="320040"/>
          </a:xfrm>
          <a:prstGeom prst="rect">
            <a:avLst/>
          </a:prstGeom>
          <a:noFill/>
          <a:ln/>
        </p:spPr>
        <p:txBody>
          <a:bodyPr wrap="square" lIns="0" tIns="0" rIns="0" bIns="0" rtlCol="0" anchor="ctr"/>
          <a:lstStyle/>
          <a:p>
            <a:pPr algn="l" indent="0" marL="0">
              <a:buNone/>
            </a:pPr>
            <a:r>
              <a:rPr lang="en-US" sz="1150" dirty="0">
                <a:solidFill>
                  <a:srgbClr val="9AA6B2"/>
                </a:solidFill>
                <a:latin typeface="Calibri" pitchFamily="34" charset="0"/>
                <a:ea typeface="Calibri" pitchFamily="34" charset="-122"/>
                <a:cs typeface="Calibri" pitchFamily="34" charset="-120"/>
              </a:rPr>
              <a:t>What we'll build and how — phase by phase</a:t>
            </a:r>
            <a:endParaRPr lang="en-US" sz="1150" dirty="0"/>
          </a:p>
        </p:txBody>
      </p:sp>
      <p:sp>
        <p:nvSpPr>
          <p:cNvPr id="5" name="Shape 3"/>
          <p:cNvSpPr/>
          <p:nvPr/>
        </p:nvSpPr>
        <p:spPr>
          <a:xfrm>
            <a:off x="347472" y="1097280"/>
            <a:ext cx="1993392" cy="3520440"/>
          </a:xfrm>
          <a:prstGeom prst="roundRect">
            <a:avLst>
              <a:gd name="adj" fmla="val 5505"/>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6" name="Shape 4"/>
          <p:cNvSpPr/>
          <p:nvPr/>
        </p:nvSpPr>
        <p:spPr>
          <a:xfrm>
            <a:off x="347472" y="1097280"/>
            <a:ext cx="1993392" cy="566928"/>
          </a:xfrm>
          <a:prstGeom prst="roundRect">
            <a:avLst>
              <a:gd name="adj" fmla="val 19355"/>
            </a:avLst>
          </a:prstGeom>
          <a:solidFill>
            <a:srgbClr val="1B2A41"/>
          </a:solidFill>
          <a:ln w="12700">
            <a:solidFill>
              <a:srgbClr val="1B2A41"/>
            </a:solidFill>
            <a:prstDash val="solid"/>
          </a:ln>
        </p:spPr>
      </p:sp>
      <p:sp>
        <p:nvSpPr>
          <p:cNvPr id="7" name="Shape 5"/>
          <p:cNvSpPr/>
          <p:nvPr/>
        </p:nvSpPr>
        <p:spPr>
          <a:xfrm>
            <a:off x="347472" y="1389888"/>
            <a:ext cx="1993392" cy="274320"/>
          </a:xfrm>
          <a:prstGeom prst="rect">
            <a:avLst/>
          </a:prstGeom>
          <a:solidFill>
            <a:srgbClr val="1B2A41"/>
          </a:solidFill>
          <a:ln w="12700">
            <a:solidFill>
              <a:srgbClr val="1B2A41"/>
            </a:solidFill>
            <a:prstDash val="solid"/>
          </a:ln>
        </p:spPr>
      </p:sp>
      <p:sp>
        <p:nvSpPr>
          <p:cNvPr id="8" name="Text 6"/>
          <p:cNvSpPr/>
          <p:nvPr/>
        </p:nvSpPr>
        <p:spPr>
          <a:xfrm>
            <a:off x="347472" y="1143000"/>
            <a:ext cx="1993392"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1</a:t>
            </a:r>
            <a:endParaRPr lang="en-US" sz="950" dirty="0"/>
          </a:p>
        </p:txBody>
      </p:sp>
      <p:sp>
        <p:nvSpPr>
          <p:cNvPr id="9" name="Text 7"/>
          <p:cNvSpPr/>
          <p:nvPr/>
        </p:nvSpPr>
        <p:spPr>
          <a:xfrm>
            <a:off x="347472" y="1389888"/>
            <a:ext cx="19933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Core Detection Agent</a:t>
            </a:r>
            <a:endParaRPr lang="en-US" sz="1100" dirty="0"/>
          </a:p>
        </p:txBody>
      </p:sp>
      <p:sp>
        <p:nvSpPr>
          <p:cNvPr id="10" name="Shape 8"/>
          <p:cNvSpPr/>
          <p:nvPr/>
        </p:nvSpPr>
        <p:spPr>
          <a:xfrm>
            <a:off x="512064" y="1920240"/>
            <a:ext cx="182880" cy="182880"/>
          </a:xfrm>
          <a:prstGeom prst="ellipse">
            <a:avLst/>
          </a:prstGeom>
          <a:solidFill>
            <a:srgbClr val="1B2A41"/>
          </a:solidFill>
          <a:ln w="12700">
            <a:solidFill>
              <a:srgbClr val="1B2A41"/>
            </a:solidFill>
            <a:prstDash val="solid"/>
          </a:ln>
        </p:spPr>
      </p:sp>
      <p:sp>
        <p:nvSpPr>
          <p:cNvPr id="11" name="Text 9"/>
          <p:cNvSpPr/>
          <p:nvPr/>
        </p:nvSpPr>
        <p:spPr>
          <a:xfrm>
            <a:off x="777240" y="184708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WhatsApp bot interface</a:t>
            </a:r>
            <a:endParaRPr lang="en-US" sz="1000" dirty="0"/>
          </a:p>
        </p:txBody>
      </p:sp>
      <p:sp>
        <p:nvSpPr>
          <p:cNvPr id="12" name="Shape 10"/>
          <p:cNvSpPr/>
          <p:nvPr/>
        </p:nvSpPr>
        <p:spPr>
          <a:xfrm>
            <a:off x="512064" y="2560320"/>
            <a:ext cx="182880" cy="182880"/>
          </a:xfrm>
          <a:prstGeom prst="ellipse">
            <a:avLst/>
          </a:prstGeom>
          <a:solidFill>
            <a:srgbClr val="1B2A41"/>
          </a:solidFill>
          <a:ln w="12700">
            <a:solidFill>
              <a:srgbClr val="1B2A41"/>
            </a:solidFill>
            <a:prstDash val="solid"/>
          </a:ln>
        </p:spPr>
      </p:sp>
      <p:sp>
        <p:nvSpPr>
          <p:cNvPr id="13" name="Text 11"/>
          <p:cNvSpPr/>
          <p:nvPr/>
        </p:nvSpPr>
        <p:spPr>
          <a:xfrm>
            <a:off x="777240" y="248716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LLM scam signal detector</a:t>
            </a:r>
            <a:endParaRPr lang="en-US" sz="1000" dirty="0"/>
          </a:p>
        </p:txBody>
      </p:sp>
      <p:sp>
        <p:nvSpPr>
          <p:cNvPr id="14" name="Shape 12"/>
          <p:cNvSpPr/>
          <p:nvPr/>
        </p:nvSpPr>
        <p:spPr>
          <a:xfrm>
            <a:off x="512064" y="3200400"/>
            <a:ext cx="182880" cy="182880"/>
          </a:xfrm>
          <a:prstGeom prst="ellipse">
            <a:avLst/>
          </a:prstGeom>
          <a:solidFill>
            <a:srgbClr val="1B2A41"/>
          </a:solidFill>
          <a:ln w="12700">
            <a:solidFill>
              <a:srgbClr val="1B2A41"/>
            </a:solidFill>
            <a:prstDash val="solid"/>
          </a:ln>
        </p:spPr>
      </p:sp>
      <p:sp>
        <p:nvSpPr>
          <p:cNvPr id="15" name="Text 13"/>
          <p:cNvSpPr/>
          <p:nvPr/>
        </p:nvSpPr>
        <p:spPr>
          <a:xfrm>
            <a:off x="777240" y="312724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Risk scoring logic</a:t>
            </a:r>
            <a:endParaRPr lang="en-US" sz="1000" dirty="0"/>
          </a:p>
        </p:txBody>
      </p:sp>
      <p:sp>
        <p:nvSpPr>
          <p:cNvPr id="16" name="Shape 14"/>
          <p:cNvSpPr/>
          <p:nvPr/>
        </p:nvSpPr>
        <p:spPr>
          <a:xfrm>
            <a:off x="512064" y="3840480"/>
            <a:ext cx="182880" cy="182880"/>
          </a:xfrm>
          <a:prstGeom prst="ellipse">
            <a:avLst/>
          </a:prstGeom>
          <a:solidFill>
            <a:srgbClr val="1B2A41"/>
          </a:solidFill>
          <a:ln w="12700">
            <a:solidFill>
              <a:srgbClr val="1B2A41"/>
            </a:solidFill>
            <a:prstDash val="solid"/>
          </a:ln>
        </p:spPr>
      </p:sp>
      <p:sp>
        <p:nvSpPr>
          <p:cNvPr id="17" name="Text 15"/>
          <p:cNvSpPr/>
          <p:nvPr/>
        </p:nvSpPr>
        <p:spPr>
          <a:xfrm>
            <a:off x="777240" y="376732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Hindi / Telugu language support</a:t>
            </a:r>
            <a:endParaRPr lang="en-US" sz="1000" dirty="0"/>
          </a:p>
        </p:txBody>
      </p:sp>
      <p:sp>
        <p:nvSpPr>
          <p:cNvPr id="18" name="Shape 16"/>
          <p:cNvSpPr/>
          <p:nvPr/>
        </p:nvSpPr>
        <p:spPr>
          <a:xfrm>
            <a:off x="2514600" y="1097280"/>
            <a:ext cx="1993392" cy="3520440"/>
          </a:xfrm>
          <a:prstGeom prst="roundRect">
            <a:avLst>
              <a:gd name="adj" fmla="val 5505"/>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19" name="Shape 17"/>
          <p:cNvSpPr/>
          <p:nvPr/>
        </p:nvSpPr>
        <p:spPr>
          <a:xfrm>
            <a:off x="2514600" y="1097280"/>
            <a:ext cx="1993392" cy="566928"/>
          </a:xfrm>
          <a:prstGeom prst="roundRect">
            <a:avLst>
              <a:gd name="adj" fmla="val 19355"/>
            </a:avLst>
          </a:prstGeom>
          <a:solidFill>
            <a:srgbClr val="33495F"/>
          </a:solidFill>
          <a:ln w="12700">
            <a:solidFill>
              <a:srgbClr val="33495F"/>
            </a:solidFill>
            <a:prstDash val="solid"/>
          </a:ln>
        </p:spPr>
      </p:sp>
      <p:sp>
        <p:nvSpPr>
          <p:cNvPr id="20" name="Shape 18"/>
          <p:cNvSpPr/>
          <p:nvPr/>
        </p:nvSpPr>
        <p:spPr>
          <a:xfrm>
            <a:off x="2514600" y="1389888"/>
            <a:ext cx="1993392" cy="274320"/>
          </a:xfrm>
          <a:prstGeom prst="rect">
            <a:avLst/>
          </a:prstGeom>
          <a:solidFill>
            <a:srgbClr val="33495F"/>
          </a:solidFill>
          <a:ln w="12700">
            <a:solidFill>
              <a:srgbClr val="33495F"/>
            </a:solidFill>
            <a:prstDash val="solid"/>
          </a:ln>
        </p:spPr>
      </p:sp>
      <p:sp>
        <p:nvSpPr>
          <p:cNvPr id="21" name="Text 19"/>
          <p:cNvSpPr/>
          <p:nvPr/>
        </p:nvSpPr>
        <p:spPr>
          <a:xfrm>
            <a:off x="2514600" y="1143000"/>
            <a:ext cx="1993392"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2</a:t>
            </a:r>
            <a:endParaRPr lang="en-US" sz="950" dirty="0"/>
          </a:p>
        </p:txBody>
      </p:sp>
      <p:sp>
        <p:nvSpPr>
          <p:cNvPr id="22" name="Text 20"/>
          <p:cNvSpPr/>
          <p:nvPr/>
        </p:nvSpPr>
        <p:spPr>
          <a:xfrm>
            <a:off x="2514600" y="1389888"/>
            <a:ext cx="19933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Trusted Circle Alerts</a:t>
            </a:r>
            <a:endParaRPr lang="en-US" sz="1100" dirty="0"/>
          </a:p>
        </p:txBody>
      </p:sp>
      <p:sp>
        <p:nvSpPr>
          <p:cNvPr id="23" name="Shape 21"/>
          <p:cNvSpPr/>
          <p:nvPr/>
        </p:nvSpPr>
        <p:spPr>
          <a:xfrm>
            <a:off x="2679192" y="1920240"/>
            <a:ext cx="182880" cy="182880"/>
          </a:xfrm>
          <a:prstGeom prst="ellipse">
            <a:avLst/>
          </a:prstGeom>
          <a:solidFill>
            <a:srgbClr val="33495F"/>
          </a:solidFill>
          <a:ln w="12700">
            <a:solidFill>
              <a:srgbClr val="33495F"/>
            </a:solidFill>
            <a:prstDash val="solid"/>
          </a:ln>
        </p:spPr>
      </p:sp>
      <p:sp>
        <p:nvSpPr>
          <p:cNvPr id="24" name="Text 22"/>
          <p:cNvSpPr/>
          <p:nvPr/>
        </p:nvSpPr>
        <p:spPr>
          <a:xfrm>
            <a:off x="2944368" y="184708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Trusted contact setup flow</a:t>
            </a:r>
            <a:endParaRPr lang="en-US" sz="1000" dirty="0"/>
          </a:p>
        </p:txBody>
      </p:sp>
      <p:sp>
        <p:nvSpPr>
          <p:cNvPr id="25" name="Shape 23"/>
          <p:cNvSpPr/>
          <p:nvPr/>
        </p:nvSpPr>
        <p:spPr>
          <a:xfrm>
            <a:off x="2679192" y="2560320"/>
            <a:ext cx="182880" cy="182880"/>
          </a:xfrm>
          <a:prstGeom prst="ellipse">
            <a:avLst/>
          </a:prstGeom>
          <a:solidFill>
            <a:srgbClr val="33495F"/>
          </a:solidFill>
          <a:ln w="12700">
            <a:solidFill>
              <a:srgbClr val="33495F"/>
            </a:solidFill>
            <a:prstDash val="solid"/>
          </a:ln>
        </p:spPr>
      </p:sp>
      <p:sp>
        <p:nvSpPr>
          <p:cNvPr id="26" name="Text 24"/>
          <p:cNvSpPr/>
          <p:nvPr/>
        </p:nvSpPr>
        <p:spPr>
          <a:xfrm>
            <a:off x="2944368" y="248716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Twilio SMS / WhatsApp alerts</a:t>
            </a:r>
            <a:endParaRPr lang="en-US" sz="1000" dirty="0"/>
          </a:p>
        </p:txBody>
      </p:sp>
      <p:sp>
        <p:nvSpPr>
          <p:cNvPr id="27" name="Shape 25"/>
          <p:cNvSpPr/>
          <p:nvPr/>
        </p:nvSpPr>
        <p:spPr>
          <a:xfrm>
            <a:off x="2679192" y="3200400"/>
            <a:ext cx="182880" cy="182880"/>
          </a:xfrm>
          <a:prstGeom prst="ellipse">
            <a:avLst/>
          </a:prstGeom>
          <a:solidFill>
            <a:srgbClr val="33495F"/>
          </a:solidFill>
          <a:ln w="12700">
            <a:solidFill>
              <a:srgbClr val="33495F"/>
            </a:solidFill>
            <a:prstDash val="solid"/>
          </a:ln>
        </p:spPr>
      </p:sp>
      <p:sp>
        <p:nvSpPr>
          <p:cNvPr id="28" name="Text 26"/>
          <p:cNvSpPr/>
          <p:nvPr/>
        </p:nvSpPr>
        <p:spPr>
          <a:xfrm>
            <a:off x="2944368" y="312724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Coercion confirmation dialogue</a:t>
            </a:r>
            <a:endParaRPr lang="en-US" sz="1000" dirty="0"/>
          </a:p>
        </p:txBody>
      </p:sp>
      <p:sp>
        <p:nvSpPr>
          <p:cNvPr id="29" name="Shape 27"/>
          <p:cNvSpPr/>
          <p:nvPr/>
        </p:nvSpPr>
        <p:spPr>
          <a:xfrm>
            <a:off x="2679192" y="3840480"/>
            <a:ext cx="182880" cy="182880"/>
          </a:xfrm>
          <a:prstGeom prst="ellipse">
            <a:avLst/>
          </a:prstGeom>
          <a:solidFill>
            <a:srgbClr val="33495F"/>
          </a:solidFill>
          <a:ln w="12700">
            <a:solidFill>
              <a:srgbClr val="33495F"/>
            </a:solidFill>
            <a:prstDash val="solid"/>
          </a:ln>
        </p:spPr>
      </p:sp>
      <p:sp>
        <p:nvSpPr>
          <p:cNvPr id="30" name="Text 28"/>
          <p:cNvSpPr/>
          <p:nvPr/>
        </p:nvSpPr>
        <p:spPr>
          <a:xfrm>
            <a:off x="2944368" y="376732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Consent &amp; privacy controls</a:t>
            </a:r>
            <a:endParaRPr lang="en-US" sz="1000" dirty="0"/>
          </a:p>
        </p:txBody>
      </p:sp>
      <p:sp>
        <p:nvSpPr>
          <p:cNvPr id="31" name="Shape 29"/>
          <p:cNvSpPr/>
          <p:nvPr/>
        </p:nvSpPr>
        <p:spPr>
          <a:xfrm>
            <a:off x="4681728" y="1097280"/>
            <a:ext cx="1993392" cy="3520440"/>
          </a:xfrm>
          <a:prstGeom prst="roundRect">
            <a:avLst>
              <a:gd name="adj" fmla="val 5505"/>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32" name="Shape 30"/>
          <p:cNvSpPr/>
          <p:nvPr/>
        </p:nvSpPr>
        <p:spPr>
          <a:xfrm>
            <a:off x="4681728" y="1097280"/>
            <a:ext cx="1993392" cy="566928"/>
          </a:xfrm>
          <a:prstGeom prst="roundRect">
            <a:avLst>
              <a:gd name="adj" fmla="val 19355"/>
            </a:avLst>
          </a:prstGeom>
          <a:solidFill>
            <a:srgbClr val="4D6478"/>
          </a:solidFill>
          <a:ln w="12700">
            <a:solidFill>
              <a:srgbClr val="4D6478"/>
            </a:solidFill>
            <a:prstDash val="solid"/>
          </a:ln>
        </p:spPr>
      </p:sp>
      <p:sp>
        <p:nvSpPr>
          <p:cNvPr id="33" name="Shape 31"/>
          <p:cNvSpPr/>
          <p:nvPr/>
        </p:nvSpPr>
        <p:spPr>
          <a:xfrm>
            <a:off x="4681728" y="1389888"/>
            <a:ext cx="1993392" cy="274320"/>
          </a:xfrm>
          <a:prstGeom prst="rect">
            <a:avLst/>
          </a:prstGeom>
          <a:solidFill>
            <a:srgbClr val="4D6478"/>
          </a:solidFill>
          <a:ln w="12700">
            <a:solidFill>
              <a:srgbClr val="4D6478"/>
            </a:solidFill>
            <a:prstDash val="solid"/>
          </a:ln>
        </p:spPr>
      </p:sp>
      <p:sp>
        <p:nvSpPr>
          <p:cNvPr id="34" name="Text 32"/>
          <p:cNvSpPr/>
          <p:nvPr/>
        </p:nvSpPr>
        <p:spPr>
          <a:xfrm>
            <a:off x="4681728" y="1143000"/>
            <a:ext cx="1993392"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3</a:t>
            </a:r>
            <a:endParaRPr lang="en-US" sz="950" dirty="0"/>
          </a:p>
        </p:txBody>
      </p:sp>
      <p:sp>
        <p:nvSpPr>
          <p:cNvPr id="35" name="Text 33"/>
          <p:cNvSpPr/>
          <p:nvPr/>
        </p:nvSpPr>
        <p:spPr>
          <a:xfrm>
            <a:off x="4681728" y="1389888"/>
            <a:ext cx="19933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Recovery Automation</a:t>
            </a:r>
            <a:endParaRPr lang="en-US" sz="1100" dirty="0"/>
          </a:p>
        </p:txBody>
      </p:sp>
      <p:sp>
        <p:nvSpPr>
          <p:cNvPr id="36" name="Shape 34"/>
          <p:cNvSpPr/>
          <p:nvPr/>
        </p:nvSpPr>
        <p:spPr>
          <a:xfrm>
            <a:off x="4846320" y="1920240"/>
            <a:ext cx="182880" cy="182880"/>
          </a:xfrm>
          <a:prstGeom prst="ellipse">
            <a:avLst/>
          </a:prstGeom>
          <a:solidFill>
            <a:srgbClr val="4D6478"/>
          </a:solidFill>
          <a:ln w="12700">
            <a:solidFill>
              <a:srgbClr val="4D6478"/>
            </a:solidFill>
            <a:prstDash val="solid"/>
          </a:ln>
        </p:spPr>
      </p:sp>
      <p:sp>
        <p:nvSpPr>
          <p:cNvPr id="37" name="Text 35"/>
          <p:cNvSpPr/>
          <p:nvPr/>
        </p:nvSpPr>
        <p:spPr>
          <a:xfrm>
            <a:off x="5111496" y="184708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Auto-generate 1930 complaint</a:t>
            </a:r>
            <a:endParaRPr lang="en-US" sz="1000" dirty="0"/>
          </a:p>
        </p:txBody>
      </p:sp>
      <p:sp>
        <p:nvSpPr>
          <p:cNvPr id="38" name="Shape 36"/>
          <p:cNvSpPr/>
          <p:nvPr/>
        </p:nvSpPr>
        <p:spPr>
          <a:xfrm>
            <a:off x="4846320" y="2560320"/>
            <a:ext cx="182880" cy="182880"/>
          </a:xfrm>
          <a:prstGeom prst="ellipse">
            <a:avLst/>
          </a:prstGeom>
          <a:solidFill>
            <a:srgbClr val="4D6478"/>
          </a:solidFill>
          <a:ln w="12700">
            <a:solidFill>
              <a:srgbClr val="4D6478"/>
            </a:solidFill>
            <a:prstDash val="solid"/>
          </a:ln>
        </p:spPr>
      </p:sp>
      <p:sp>
        <p:nvSpPr>
          <p:cNvPr id="39" name="Text 37"/>
          <p:cNvSpPr/>
          <p:nvPr/>
        </p:nvSpPr>
        <p:spPr>
          <a:xfrm>
            <a:off x="5111496" y="248716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Bank notification template</a:t>
            </a:r>
            <a:endParaRPr lang="en-US" sz="1000" dirty="0"/>
          </a:p>
        </p:txBody>
      </p:sp>
      <p:sp>
        <p:nvSpPr>
          <p:cNvPr id="40" name="Shape 38"/>
          <p:cNvSpPr/>
          <p:nvPr/>
        </p:nvSpPr>
        <p:spPr>
          <a:xfrm>
            <a:off x="4846320" y="3200400"/>
            <a:ext cx="182880" cy="182880"/>
          </a:xfrm>
          <a:prstGeom prst="ellipse">
            <a:avLst/>
          </a:prstGeom>
          <a:solidFill>
            <a:srgbClr val="4D6478"/>
          </a:solidFill>
          <a:ln w="12700">
            <a:solidFill>
              <a:srgbClr val="4D6478"/>
            </a:solidFill>
            <a:prstDash val="solid"/>
          </a:ln>
        </p:spPr>
      </p:sp>
      <p:sp>
        <p:nvSpPr>
          <p:cNvPr id="41" name="Text 39"/>
          <p:cNvSpPr/>
          <p:nvPr/>
        </p:nvSpPr>
        <p:spPr>
          <a:xfrm>
            <a:off x="5111496" y="312724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Step-by-step recovery guide</a:t>
            </a:r>
            <a:endParaRPr lang="en-US" sz="1000" dirty="0"/>
          </a:p>
        </p:txBody>
      </p:sp>
      <p:sp>
        <p:nvSpPr>
          <p:cNvPr id="42" name="Shape 40"/>
          <p:cNvSpPr/>
          <p:nvPr/>
        </p:nvSpPr>
        <p:spPr>
          <a:xfrm>
            <a:off x="4846320" y="3840480"/>
            <a:ext cx="182880" cy="182880"/>
          </a:xfrm>
          <a:prstGeom prst="ellipse">
            <a:avLst/>
          </a:prstGeom>
          <a:solidFill>
            <a:srgbClr val="4D6478"/>
          </a:solidFill>
          <a:ln w="12700">
            <a:solidFill>
              <a:srgbClr val="4D6478"/>
            </a:solidFill>
            <a:prstDash val="solid"/>
          </a:ln>
        </p:spPr>
      </p:sp>
      <p:sp>
        <p:nvSpPr>
          <p:cNvPr id="43" name="Text 41"/>
          <p:cNvSpPr/>
          <p:nvPr/>
        </p:nvSpPr>
        <p:spPr>
          <a:xfrm>
            <a:off x="5111496" y="376732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BHASHINI multilingual output</a:t>
            </a:r>
            <a:endParaRPr lang="en-US" sz="1000" dirty="0"/>
          </a:p>
        </p:txBody>
      </p:sp>
      <p:sp>
        <p:nvSpPr>
          <p:cNvPr id="44" name="Shape 42"/>
          <p:cNvSpPr/>
          <p:nvPr/>
        </p:nvSpPr>
        <p:spPr>
          <a:xfrm>
            <a:off x="6848856" y="1097280"/>
            <a:ext cx="1993392" cy="3520440"/>
          </a:xfrm>
          <a:prstGeom prst="roundRect">
            <a:avLst>
              <a:gd name="adj" fmla="val 5505"/>
            </a:avLst>
          </a:prstGeom>
          <a:solidFill>
            <a:srgbClr val="FFFFFF"/>
          </a:solidFill>
          <a:ln w="12700">
            <a:solidFill>
              <a:srgbClr val="E0E0F0"/>
            </a:solidFill>
            <a:prstDash val="solid"/>
          </a:ln>
          <a:effectLst>
            <a:outerShdw sx="100000" sy="100000" kx="0" ky="0" algn="bl" rotWithShape="0" blurRad="101600" dist="38100" dir="5400000">
              <a:srgbClr val="000000">
                <a:alpha val="7000"/>
              </a:srgbClr>
            </a:outerShdw>
          </a:effectLst>
        </p:spPr>
      </p:sp>
      <p:sp>
        <p:nvSpPr>
          <p:cNvPr id="45" name="Shape 43"/>
          <p:cNvSpPr/>
          <p:nvPr/>
        </p:nvSpPr>
        <p:spPr>
          <a:xfrm>
            <a:off x="6848856" y="1097280"/>
            <a:ext cx="1993392" cy="566928"/>
          </a:xfrm>
          <a:prstGeom prst="roundRect">
            <a:avLst>
              <a:gd name="adj" fmla="val 19355"/>
            </a:avLst>
          </a:prstGeom>
          <a:solidFill>
            <a:srgbClr val="9C7A3C"/>
          </a:solidFill>
          <a:ln w="12700">
            <a:solidFill>
              <a:srgbClr val="9C7A3C"/>
            </a:solidFill>
            <a:prstDash val="solid"/>
          </a:ln>
        </p:spPr>
      </p:sp>
      <p:sp>
        <p:nvSpPr>
          <p:cNvPr id="46" name="Shape 44"/>
          <p:cNvSpPr/>
          <p:nvPr/>
        </p:nvSpPr>
        <p:spPr>
          <a:xfrm>
            <a:off x="6848856" y="1389888"/>
            <a:ext cx="1993392" cy="274320"/>
          </a:xfrm>
          <a:prstGeom prst="rect">
            <a:avLst/>
          </a:prstGeom>
          <a:solidFill>
            <a:srgbClr val="9C7A3C"/>
          </a:solidFill>
          <a:ln w="12700">
            <a:solidFill>
              <a:srgbClr val="9C7A3C"/>
            </a:solidFill>
            <a:prstDash val="solid"/>
          </a:ln>
        </p:spPr>
      </p:sp>
      <p:sp>
        <p:nvSpPr>
          <p:cNvPr id="47" name="Text 45"/>
          <p:cNvSpPr/>
          <p:nvPr/>
        </p:nvSpPr>
        <p:spPr>
          <a:xfrm>
            <a:off x="6848856" y="1143000"/>
            <a:ext cx="1993392"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Demo Day</a:t>
            </a:r>
            <a:endParaRPr lang="en-US" sz="950" dirty="0"/>
          </a:p>
        </p:txBody>
      </p:sp>
      <p:sp>
        <p:nvSpPr>
          <p:cNvPr id="48" name="Text 46"/>
          <p:cNvSpPr/>
          <p:nvPr/>
        </p:nvSpPr>
        <p:spPr>
          <a:xfrm>
            <a:off x="6848856" y="1389888"/>
            <a:ext cx="1993392"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End-to-End Demo</a:t>
            </a:r>
            <a:endParaRPr lang="en-US" sz="1100" dirty="0"/>
          </a:p>
        </p:txBody>
      </p:sp>
      <p:sp>
        <p:nvSpPr>
          <p:cNvPr id="49" name="Shape 47"/>
          <p:cNvSpPr/>
          <p:nvPr/>
        </p:nvSpPr>
        <p:spPr>
          <a:xfrm>
            <a:off x="7013448" y="1920240"/>
            <a:ext cx="182880" cy="182880"/>
          </a:xfrm>
          <a:prstGeom prst="ellipse">
            <a:avLst/>
          </a:prstGeom>
          <a:solidFill>
            <a:srgbClr val="9C7A3C"/>
          </a:solidFill>
          <a:ln w="12700">
            <a:solidFill>
              <a:srgbClr val="9C7A3C"/>
            </a:solidFill>
            <a:prstDash val="solid"/>
          </a:ln>
        </p:spPr>
      </p:sp>
      <p:sp>
        <p:nvSpPr>
          <p:cNvPr id="50" name="Text 48"/>
          <p:cNvSpPr/>
          <p:nvPr/>
        </p:nvSpPr>
        <p:spPr>
          <a:xfrm>
            <a:off x="7278624" y="184708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Simulated UPI payment hook</a:t>
            </a:r>
            <a:endParaRPr lang="en-US" sz="1000" dirty="0"/>
          </a:p>
        </p:txBody>
      </p:sp>
      <p:sp>
        <p:nvSpPr>
          <p:cNvPr id="51" name="Shape 49"/>
          <p:cNvSpPr/>
          <p:nvPr/>
        </p:nvSpPr>
        <p:spPr>
          <a:xfrm>
            <a:off x="7013448" y="2560320"/>
            <a:ext cx="182880" cy="182880"/>
          </a:xfrm>
          <a:prstGeom prst="ellipse">
            <a:avLst/>
          </a:prstGeom>
          <a:solidFill>
            <a:srgbClr val="9C7A3C"/>
          </a:solidFill>
          <a:ln w="12700">
            <a:solidFill>
              <a:srgbClr val="9C7A3C"/>
            </a:solidFill>
            <a:prstDash val="solid"/>
          </a:ln>
        </p:spPr>
      </p:sp>
      <p:sp>
        <p:nvSpPr>
          <p:cNvPr id="52" name="Text 50"/>
          <p:cNvSpPr/>
          <p:nvPr/>
        </p:nvSpPr>
        <p:spPr>
          <a:xfrm>
            <a:off x="7278624" y="248716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Live scam conversation demo</a:t>
            </a:r>
            <a:endParaRPr lang="en-US" sz="1000" dirty="0"/>
          </a:p>
        </p:txBody>
      </p:sp>
      <p:sp>
        <p:nvSpPr>
          <p:cNvPr id="53" name="Shape 51"/>
          <p:cNvSpPr/>
          <p:nvPr/>
        </p:nvSpPr>
        <p:spPr>
          <a:xfrm>
            <a:off x="7013448" y="3200400"/>
            <a:ext cx="182880" cy="182880"/>
          </a:xfrm>
          <a:prstGeom prst="ellipse">
            <a:avLst/>
          </a:prstGeom>
          <a:solidFill>
            <a:srgbClr val="9C7A3C"/>
          </a:solidFill>
          <a:ln w="12700">
            <a:solidFill>
              <a:srgbClr val="9C7A3C"/>
            </a:solidFill>
            <a:prstDash val="solid"/>
          </a:ln>
        </p:spPr>
      </p:sp>
      <p:sp>
        <p:nvSpPr>
          <p:cNvPr id="54" name="Text 52"/>
          <p:cNvSpPr/>
          <p:nvPr/>
        </p:nvSpPr>
        <p:spPr>
          <a:xfrm>
            <a:off x="7278624" y="312724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Trusted contact alert (real time)</a:t>
            </a:r>
            <a:endParaRPr lang="en-US" sz="1000" dirty="0"/>
          </a:p>
        </p:txBody>
      </p:sp>
      <p:sp>
        <p:nvSpPr>
          <p:cNvPr id="55" name="Shape 53"/>
          <p:cNvSpPr/>
          <p:nvPr/>
        </p:nvSpPr>
        <p:spPr>
          <a:xfrm>
            <a:off x="7013448" y="3840480"/>
            <a:ext cx="182880" cy="182880"/>
          </a:xfrm>
          <a:prstGeom prst="ellipse">
            <a:avLst/>
          </a:prstGeom>
          <a:solidFill>
            <a:srgbClr val="9C7A3C"/>
          </a:solidFill>
          <a:ln w="12700">
            <a:solidFill>
              <a:srgbClr val="9C7A3C"/>
            </a:solidFill>
            <a:prstDash val="solid"/>
          </a:ln>
        </p:spPr>
      </p:sp>
      <p:sp>
        <p:nvSpPr>
          <p:cNvPr id="56" name="Text 54"/>
          <p:cNvSpPr/>
          <p:nvPr/>
        </p:nvSpPr>
        <p:spPr>
          <a:xfrm>
            <a:off x="7278624" y="3767328"/>
            <a:ext cx="1463040" cy="512064"/>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Full recovery flow walkthrough</a:t>
            </a:r>
            <a:endParaRPr lang="en-US" sz="1000" dirty="0"/>
          </a:p>
        </p:txBody>
      </p:sp>
      <p:sp>
        <p:nvSpPr>
          <p:cNvPr id="57" name="Shape 55"/>
          <p:cNvSpPr/>
          <p:nvPr/>
        </p:nvSpPr>
        <p:spPr>
          <a:xfrm>
            <a:off x="347472" y="4709160"/>
            <a:ext cx="8449056" cy="320040"/>
          </a:xfrm>
          <a:prstGeom prst="roundRect">
            <a:avLst>
              <a:gd name="adj" fmla="val 22857"/>
            </a:avLst>
          </a:prstGeom>
          <a:solidFill>
            <a:srgbClr val="EEEEF5"/>
          </a:solidFill>
          <a:ln w="12700">
            <a:solidFill>
              <a:srgbClr val="D8D8E8"/>
            </a:solidFill>
            <a:prstDash val="solid"/>
          </a:ln>
        </p:spPr>
      </p:sp>
      <p:sp>
        <p:nvSpPr>
          <p:cNvPr id="58" name="Text 56"/>
          <p:cNvSpPr/>
          <p:nvPr/>
        </p:nvSpPr>
        <p:spPr>
          <a:xfrm>
            <a:off x="502920" y="4745736"/>
            <a:ext cx="8229600" cy="256032"/>
          </a:xfrm>
          <a:prstGeom prst="rect">
            <a:avLst/>
          </a:prstGeom>
          <a:noFill/>
          <a:ln/>
        </p:spPr>
        <p:txBody>
          <a:bodyPr wrap="square" lIns="0" tIns="0" rIns="0" bIns="0" rtlCol="0" anchor="ctr"/>
          <a:lstStyle/>
          <a:p>
            <a:pPr algn="ctr" indent="0" marL="0">
              <a:buNone/>
            </a:pPr>
            <a:r>
              <a:rPr lang="en-US" sz="900" dirty="0">
                <a:solidFill>
                  <a:srgbClr val="4D5A6B"/>
                </a:solidFill>
                <a:latin typeface="Calibri" pitchFamily="34" charset="0"/>
                <a:ea typeface="Calibri" pitchFamily="34" charset="-122"/>
                <a:cs typeface="Calibri" pitchFamily="34" charset="-120"/>
              </a:rPr>
              <a:t>Open-source tools &amp; APIs: WhatsApp Business API · Anthropic Claude API · BHASHINI (Govt of India) · Twilio · I4C Public Scam Data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1"/>
          </a:solidFill>
          <a:ln w="12700">
            <a:solidFill>
              <a:srgbClr val="1B2A41"/>
            </a:solidFill>
            <a:prstDash val="solid"/>
          </a:ln>
        </p:spPr>
      </p:sp>
      <p:sp>
        <p:nvSpPr>
          <p:cNvPr id="3" name="Text 1"/>
          <p:cNvSpPr/>
          <p:nvPr/>
        </p:nvSpPr>
        <p:spPr>
          <a:xfrm>
            <a:off x="502920" y="91440"/>
            <a:ext cx="4572000" cy="41148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WHY KAVACH WINS</a:t>
            </a:r>
            <a:endParaRPr lang="en-US" sz="2200" dirty="0"/>
          </a:p>
        </p:txBody>
      </p:sp>
      <p:sp>
        <p:nvSpPr>
          <p:cNvPr id="4" name="Text 2"/>
          <p:cNvSpPr/>
          <p:nvPr/>
        </p:nvSpPr>
        <p:spPr>
          <a:xfrm>
            <a:off x="502920" y="530352"/>
            <a:ext cx="6400800" cy="320040"/>
          </a:xfrm>
          <a:prstGeom prst="rect">
            <a:avLst/>
          </a:prstGeom>
          <a:noFill/>
          <a:ln/>
        </p:spPr>
        <p:txBody>
          <a:bodyPr wrap="square" lIns="0" tIns="0" rIns="0" bIns="0" rtlCol="0" anchor="ctr"/>
          <a:lstStyle/>
          <a:p>
            <a:pPr algn="l" indent="0" marL="0">
              <a:buNone/>
            </a:pPr>
            <a:r>
              <a:rPr lang="en-US" sz="1150" dirty="0">
                <a:solidFill>
                  <a:srgbClr val="9AA6B2"/>
                </a:solidFill>
                <a:latin typeface="Calibri" pitchFamily="34" charset="0"/>
                <a:ea typeface="Calibri" pitchFamily="34" charset="-122"/>
                <a:cs typeface="Calibri" pitchFamily="34" charset="-120"/>
              </a:rPr>
              <a:t>Unique, timely, and truly agentic</a:t>
            </a:r>
            <a:endParaRPr lang="en-US" sz="1150" dirty="0"/>
          </a:p>
        </p:txBody>
      </p:sp>
      <p:sp>
        <p:nvSpPr>
          <p:cNvPr id="5" name="Shape 3"/>
          <p:cNvSpPr/>
          <p:nvPr/>
        </p:nvSpPr>
        <p:spPr>
          <a:xfrm>
            <a:off x="2377440" y="1097280"/>
            <a:ext cx="1965960" cy="438912"/>
          </a:xfrm>
          <a:prstGeom prst="roundRect">
            <a:avLst>
              <a:gd name="adj" fmla="val 16667"/>
            </a:avLst>
          </a:prstGeom>
          <a:solidFill>
            <a:srgbClr val="1B2A41"/>
          </a:solidFill>
          <a:ln w="12700">
            <a:solidFill>
              <a:srgbClr val="1B2A41"/>
            </a:solidFill>
            <a:prstDash val="solid"/>
          </a:ln>
        </p:spPr>
      </p:sp>
      <p:sp>
        <p:nvSpPr>
          <p:cNvPr id="6" name="Text 4"/>
          <p:cNvSpPr/>
          <p:nvPr/>
        </p:nvSpPr>
        <p:spPr>
          <a:xfrm>
            <a:off x="2377440" y="1097280"/>
            <a:ext cx="196596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Kavach 2.0</a:t>
            </a:r>
            <a:endParaRPr lang="en-US" sz="1050" dirty="0"/>
          </a:p>
        </p:txBody>
      </p:sp>
      <p:sp>
        <p:nvSpPr>
          <p:cNvPr id="7" name="Shape 5"/>
          <p:cNvSpPr/>
          <p:nvPr/>
        </p:nvSpPr>
        <p:spPr>
          <a:xfrm>
            <a:off x="4663440" y="1097280"/>
            <a:ext cx="1371600" cy="438912"/>
          </a:xfrm>
          <a:prstGeom prst="roundRect">
            <a:avLst>
              <a:gd name="adj" fmla="val 16667"/>
            </a:avLst>
          </a:prstGeom>
          <a:solidFill>
            <a:srgbClr val="5C6B7A"/>
          </a:solidFill>
          <a:ln w="12700">
            <a:solidFill>
              <a:srgbClr val="5C6B7A"/>
            </a:solidFill>
            <a:prstDash val="solid"/>
          </a:ln>
        </p:spPr>
      </p:sp>
      <p:sp>
        <p:nvSpPr>
          <p:cNvPr id="8" name="Text 6"/>
          <p:cNvSpPr/>
          <p:nvPr/>
        </p:nvSpPr>
        <p:spPr>
          <a:xfrm>
            <a:off x="4663440" y="1097280"/>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Truecaller</a:t>
            </a:r>
            <a:endParaRPr lang="en-US" sz="1050" dirty="0"/>
          </a:p>
        </p:txBody>
      </p:sp>
      <p:sp>
        <p:nvSpPr>
          <p:cNvPr id="9" name="Shape 7"/>
          <p:cNvSpPr/>
          <p:nvPr/>
        </p:nvSpPr>
        <p:spPr>
          <a:xfrm>
            <a:off x="6172200" y="1097280"/>
            <a:ext cx="1371600" cy="438912"/>
          </a:xfrm>
          <a:prstGeom prst="roundRect">
            <a:avLst>
              <a:gd name="adj" fmla="val 16667"/>
            </a:avLst>
          </a:prstGeom>
          <a:solidFill>
            <a:srgbClr val="5C6B7A"/>
          </a:solidFill>
          <a:ln w="12700">
            <a:solidFill>
              <a:srgbClr val="5C6B7A"/>
            </a:solidFill>
            <a:prstDash val="solid"/>
          </a:ln>
        </p:spPr>
      </p:sp>
      <p:sp>
        <p:nvSpPr>
          <p:cNvPr id="10" name="Text 8"/>
          <p:cNvSpPr/>
          <p:nvPr/>
        </p:nvSpPr>
        <p:spPr>
          <a:xfrm>
            <a:off x="6172200" y="1097280"/>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Bank Alerts</a:t>
            </a:r>
            <a:endParaRPr lang="en-US" sz="1050" dirty="0"/>
          </a:p>
        </p:txBody>
      </p:sp>
      <p:sp>
        <p:nvSpPr>
          <p:cNvPr id="11" name="Shape 9"/>
          <p:cNvSpPr/>
          <p:nvPr/>
        </p:nvSpPr>
        <p:spPr>
          <a:xfrm>
            <a:off x="7315200" y="1097280"/>
            <a:ext cx="1600200" cy="438912"/>
          </a:xfrm>
          <a:prstGeom prst="roundRect">
            <a:avLst>
              <a:gd name="adj" fmla="val 16667"/>
            </a:avLst>
          </a:prstGeom>
          <a:solidFill>
            <a:srgbClr val="5C6B7A"/>
          </a:solidFill>
          <a:ln w="12700">
            <a:solidFill>
              <a:srgbClr val="5C6B7A"/>
            </a:solidFill>
            <a:prstDash val="solid"/>
          </a:ln>
        </p:spPr>
      </p:sp>
      <p:sp>
        <p:nvSpPr>
          <p:cNvPr id="12" name="Text 10"/>
          <p:cNvSpPr/>
          <p:nvPr/>
        </p:nvSpPr>
        <p:spPr>
          <a:xfrm>
            <a:off x="7315200" y="1097280"/>
            <a:ext cx="16002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WhatsApp Bots</a:t>
            </a:r>
            <a:endParaRPr lang="en-US" sz="1050" dirty="0"/>
          </a:p>
        </p:txBody>
      </p:sp>
      <p:sp>
        <p:nvSpPr>
          <p:cNvPr id="13" name="Shape 11"/>
          <p:cNvSpPr/>
          <p:nvPr/>
        </p:nvSpPr>
        <p:spPr>
          <a:xfrm>
            <a:off x="347472" y="1664208"/>
            <a:ext cx="8449056" cy="457200"/>
          </a:xfrm>
          <a:prstGeom prst="roundRect">
            <a:avLst>
              <a:gd name="adj" fmla="val 12000"/>
            </a:avLst>
          </a:prstGeom>
          <a:solidFill>
            <a:srgbClr val="FFFFFF"/>
          </a:solidFill>
          <a:ln w="12700">
            <a:solidFill>
              <a:srgbClr val="E0E0F0"/>
            </a:solidFill>
            <a:prstDash val="solid"/>
          </a:ln>
        </p:spPr>
      </p:sp>
      <p:sp>
        <p:nvSpPr>
          <p:cNvPr id="14" name="Text 12"/>
          <p:cNvSpPr/>
          <p:nvPr/>
        </p:nvSpPr>
        <p:spPr>
          <a:xfrm>
            <a:off x="457200" y="1664208"/>
            <a:ext cx="1828800" cy="45720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Proactive (no user trigger needed)</a:t>
            </a:r>
            <a:endParaRPr lang="en-US" sz="1050" dirty="0"/>
          </a:p>
        </p:txBody>
      </p:sp>
      <p:sp>
        <p:nvSpPr>
          <p:cNvPr id="15" name="Shape 13"/>
          <p:cNvSpPr/>
          <p:nvPr/>
        </p:nvSpPr>
        <p:spPr>
          <a:xfrm>
            <a:off x="2560320" y="1728216"/>
            <a:ext cx="1600200" cy="320040"/>
          </a:xfrm>
          <a:prstGeom prst="roundRect">
            <a:avLst>
              <a:gd name="adj" fmla="val 17143"/>
            </a:avLst>
          </a:prstGeom>
          <a:solidFill>
            <a:srgbClr val="E7EFE9"/>
          </a:solidFill>
          <a:ln w="12700">
            <a:solidFill>
              <a:srgbClr val="E7EFE9"/>
            </a:solidFill>
            <a:prstDash val="solid"/>
          </a:ln>
        </p:spPr>
      </p:sp>
      <p:sp>
        <p:nvSpPr>
          <p:cNvPr id="16" name="Text 14"/>
          <p:cNvSpPr/>
          <p:nvPr/>
        </p:nvSpPr>
        <p:spPr>
          <a:xfrm>
            <a:off x="2377440" y="1664208"/>
            <a:ext cx="1965960" cy="457200"/>
          </a:xfrm>
          <a:prstGeom prst="rect">
            <a:avLst/>
          </a:prstGeom>
          <a:noFill/>
          <a:ln/>
        </p:spPr>
        <p:txBody>
          <a:bodyPr wrap="square" lIns="0" tIns="0" rIns="0" bIns="0" rtlCol="0" anchor="ctr"/>
          <a:lstStyle/>
          <a:p>
            <a:pPr algn="ctr" indent="0" marL="0">
              <a:buNone/>
            </a:pPr>
            <a:r>
              <a:rPr lang="en-US" sz="1100" b="1" dirty="0">
                <a:solidFill>
                  <a:srgbClr val="2E5A3E"/>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4846320" y="1728216"/>
            <a:ext cx="1005840" cy="320040"/>
          </a:xfrm>
          <a:prstGeom prst="roundRect">
            <a:avLst>
              <a:gd name="adj" fmla="val 17143"/>
            </a:avLst>
          </a:prstGeom>
          <a:solidFill>
            <a:srgbClr val="F3ECE0"/>
          </a:solidFill>
          <a:ln w="12700">
            <a:solidFill>
              <a:srgbClr val="F3ECE0"/>
            </a:solidFill>
            <a:prstDash val="solid"/>
          </a:ln>
        </p:spPr>
      </p:sp>
      <p:sp>
        <p:nvSpPr>
          <p:cNvPr id="18" name="Text 16"/>
          <p:cNvSpPr/>
          <p:nvPr/>
        </p:nvSpPr>
        <p:spPr>
          <a:xfrm>
            <a:off x="4663440" y="1664208"/>
            <a:ext cx="1371600" cy="457200"/>
          </a:xfrm>
          <a:prstGeom prst="rect">
            <a:avLst/>
          </a:prstGeom>
          <a:noFill/>
          <a:ln/>
        </p:spPr>
        <p:txBody>
          <a:bodyPr wrap="square" lIns="0" tIns="0" rIns="0" bIns="0" rtlCol="0" anchor="ctr"/>
          <a:lstStyle/>
          <a:p>
            <a:pPr algn="ctr" indent="0" marL="0">
              <a:buNone/>
            </a:pPr>
            <a:r>
              <a:rPr lang="en-US" sz="1100" dirty="0">
                <a:solidFill>
                  <a:srgbClr val="8A6A2E"/>
                </a:solidFill>
                <a:latin typeface="Calibri" pitchFamily="34" charset="0"/>
                <a:ea typeface="Calibri" pitchFamily="34" charset="-122"/>
                <a:cs typeface="Calibri" pitchFamily="34" charset="-120"/>
              </a:rPr>
              <a:t>Partial</a:t>
            </a:r>
            <a:endParaRPr lang="en-US" sz="1100" dirty="0"/>
          </a:p>
        </p:txBody>
      </p:sp>
      <p:sp>
        <p:nvSpPr>
          <p:cNvPr id="19" name="Shape 17"/>
          <p:cNvSpPr/>
          <p:nvPr/>
        </p:nvSpPr>
        <p:spPr>
          <a:xfrm>
            <a:off x="6355080" y="1728216"/>
            <a:ext cx="1005840" cy="320040"/>
          </a:xfrm>
          <a:prstGeom prst="roundRect">
            <a:avLst>
              <a:gd name="adj" fmla="val 17143"/>
            </a:avLst>
          </a:prstGeom>
          <a:solidFill>
            <a:srgbClr val="F2E4E4"/>
          </a:solidFill>
          <a:ln w="12700">
            <a:solidFill>
              <a:srgbClr val="F2E4E4"/>
            </a:solidFill>
            <a:prstDash val="solid"/>
          </a:ln>
        </p:spPr>
      </p:sp>
      <p:sp>
        <p:nvSpPr>
          <p:cNvPr id="20" name="Text 18"/>
          <p:cNvSpPr/>
          <p:nvPr/>
        </p:nvSpPr>
        <p:spPr>
          <a:xfrm>
            <a:off x="6172200" y="166420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7498080" y="1728216"/>
            <a:ext cx="1234440" cy="320040"/>
          </a:xfrm>
          <a:prstGeom prst="roundRect">
            <a:avLst>
              <a:gd name="adj" fmla="val 17143"/>
            </a:avLst>
          </a:prstGeom>
          <a:solidFill>
            <a:srgbClr val="F2E4E4"/>
          </a:solidFill>
          <a:ln w="12700">
            <a:solidFill>
              <a:srgbClr val="F2E4E4"/>
            </a:solidFill>
            <a:prstDash val="solid"/>
          </a:ln>
        </p:spPr>
      </p:sp>
      <p:sp>
        <p:nvSpPr>
          <p:cNvPr id="22" name="Text 20"/>
          <p:cNvSpPr/>
          <p:nvPr/>
        </p:nvSpPr>
        <p:spPr>
          <a:xfrm>
            <a:off x="7315200" y="1664208"/>
            <a:ext cx="16002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347472" y="2167128"/>
            <a:ext cx="8449056" cy="457200"/>
          </a:xfrm>
          <a:prstGeom prst="roundRect">
            <a:avLst>
              <a:gd name="adj" fmla="val 12000"/>
            </a:avLst>
          </a:prstGeom>
          <a:solidFill>
            <a:srgbClr val="F2F2FA"/>
          </a:solidFill>
          <a:ln w="12700">
            <a:solidFill>
              <a:srgbClr val="E0E0F0"/>
            </a:solidFill>
            <a:prstDash val="solid"/>
          </a:ln>
        </p:spPr>
      </p:sp>
      <p:sp>
        <p:nvSpPr>
          <p:cNvPr id="24" name="Text 22"/>
          <p:cNvSpPr/>
          <p:nvPr/>
        </p:nvSpPr>
        <p:spPr>
          <a:xfrm>
            <a:off x="457200" y="2167128"/>
            <a:ext cx="1828800" cy="45720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Breaks isolation in real-time</a:t>
            </a:r>
            <a:endParaRPr lang="en-US" sz="1050" dirty="0"/>
          </a:p>
        </p:txBody>
      </p:sp>
      <p:sp>
        <p:nvSpPr>
          <p:cNvPr id="25" name="Shape 23"/>
          <p:cNvSpPr/>
          <p:nvPr/>
        </p:nvSpPr>
        <p:spPr>
          <a:xfrm>
            <a:off x="2560320" y="2231136"/>
            <a:ext cx="1600200" cy="320040"/>
          </a:xfrm>
          <a:prstGeom prst="roundRect">
            <a:avLst>
              <a:gd name="adj" fmla="val 17143"/>
            </a:avLst>
          </a:prstGeom>
          <a:solidFill>
            <a:srgbClr val="E7EFE9"/>
          </a:solidFill>
          <a:ln w="12700">
            <a:solidFill>
              <a:srgbClr val="E7EFE9"/>
            </a:solidFill>
            <a:prstDash val="solid"/>
          </a:ln>
        </p:spPr>
      </p:sp>
      <p:sp>
        <p:nvSpPr>
          <p:cNvPr id="26" name="Text 24"/>
          <p:cNvSpPr/>
          <p:nvPr/>
        </p:nvSpPr>
        <p:spPr>
          <a:xfrm>
            <a:off x="2377440" y="2167128"/>
            <a:ext cx="1965960" cy="457200"/>
          </a:xfrm>
          <a:prstGeom prst="rect">
            <a:avLst/>
          </a:prstGeom>
          <a:noFill/>
          <a:ln/>
        </p:spPr>
        <p:txBody>
          <a:bodyPr wrap="square" lIns="0" tIns="0" rIns="0" bIns="0" rtlCol="0" anchor="ctr"/>
          <a:lstStyle/>
          <a:p>
            <a:pPr algn="ctr" indent="0" marL="0">
              <a:buNone/>
            </a:pPr>
            <a:r>
              <a:rPr lang="en-US" sz="1100" b="1" dirty="0">
                <a:solidFill>
                  <a:srgbClr val="2E5A3E"/>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4846320" y="2231136"/>
            <a:ext cx="1005840" cy="320040"/>
          </a:xfrm>
          <a:prstGeom prst="roundRect">
            <a:avLst>
              <a:gd name="adj" fmla="val 17143"/>
            </a:avLst>
          </a:prstGeom>
          <a:solidFill>
            <a:srgbClr val="F2E4E4"/>
          </a:solidFill>
          <a:ln w="12700">
            <a:solidFill>
              <a:srgbClr val="F2E4E4"/>
            </a:solidFill>
            <a:prstDash val="solid"/>
          </a:ln>
        </p:spPr>
      </p:sp>
      <p:sp>
        <p:nvSpPr>
          <p:cNvPr id="28" name="Text 26"/>
          <p:cNvSpPr/>
          <p:nvPr/>
        </p:nvSpPr>
        <p:spPr>
          <a:xfrm>
            <a:off x="4663440" y="216712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355080" y="2231136"/>
            <a:ext cx="1005840" cy="320040"/>
          </a:xfrm>
          <a:prstGeom prst="roundRect">
            <a:avLst>
              <a:gd name="adj" fmla="val 17143"/>
            </a:avLst>
          </a:prstGeom>
          <a:solidFill>
            <a:srgbClr val="F2E4E4"/>
          </a:solidFill>
          <a:ln w="12700">
            <a:solidFill>
              <a:srgbClr val="F2E4E4"/>
            </a:solidFill>
            <a:prstDash val="solid"/>
          </a:ln>
        </p:spPr>
      </p:sp>
      <p:sp>
        <p:nvSpPr>
          <p:cNvPr id="30" name="Text 28"/>
          <p:cNvSpPr/>
          <p:nvPr/>
        </p:nvSpPr>
        <p:spPr>
          <a:xfrm>
            <a:off x="6172200" y="216712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7498080" y="2231136"/>
            <a:ext cx="1234440" cy="320040"/>
          </a:xfrm>
          <a:prstGeom prst="roundRect">
            <a:avLst>
              <a:gd name="adj" fmla="val 17143"/>
            </a:avLst>
          </a:prstGeom>
          <a:solidFill>
            <a:srgbClr val="F2E4E4"/>
          </a:solidFill>
          <a:ln w="12700">
            <a:solidFill>
              <a:srgbClr val="F2E4E4"/>
            </a:solidFill>
            <a:prstDash val="solid"/>
          </a:ln>
        </p:spPr>
      </p:sp>
      <p:sp>
        <p:nvSpPr>
          <p:cNvPr id="32" name="Text 30"/>
          <p:cNvSpPr/>
          <p:nvPr/>
        </p:nvSpPr>
        <p:spPr>
          <a:xfrm>
            <a:off x="7315200" y="2167128"/>
            <a:ext cx="16002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347472" y="2670048"/>
            <a:ext cx="8449056" cy="457200"/>
          </a:xfrm>
          <a:prstGeom prst="roundRect">
            <a:avLst>
              <a:gd name="adj" fmla="val 12000"/>
            </a:avLst>
          </a:prstGeom>
          <a:solidFill>
            <a:srgbClr val="FFFFFF"/>
          </a:solidFill>
          <a:ln w="12700">
            <a:solidFill>
              <a:srgbClr val="E0E0F0"/>
            </a:solidFill>
            <a:prstDash val="solid"/>
          </a:ln>
        </p:spPr>
      </p:sp>
      <p:sp>
        <p:nvSpPr>
          <p:cNvPr id="34" name="Text 32"/>
          <p:cNvSpPr/>
          <p:nvPr/>
        </p:nvSpPr>
        <p:spPr>
          <a:xfrm>
            <a:off x="457200" y="2670048"/>
            <a:ext cx="1828800" cy="45720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Works in Hindi / regional languages</a:t>
            </a:r>
            <a:endParaRPr lang="en-US" sz="1050" dirty="0"/>
          </a:p>
        </p:txBody>
      </p:sp>
      <p:sp>
        <p:nvSpPr>
          <p:cNvPr id="35" name="Shape 33"/>
          <p:cNvSpPr/>
          <p:nvPr/>
        </p:nvSpPr>
        <p:spPr>
          <a:xfrm>
            <a:off x="2560320" y="2734056"/>
            <a:ext cx="1600200" cy="320040"/>
          </a:xfrm>
          <a:prstGeom prst="roundRect">
            <a:avLst>
              <a:gd name="adj" fmla="val 17143"/>
            </a:avLst>
          </a:prstGeom>
          <a:solidFill>
            <a:srgbClr val="E7EFE9"/>
          </a:solidFill>
          <a:ln w="12700">
            <a:solidFill>
              <a:srgbClr val="E7EFE9"/>
            </a:solidFill>
            <a:prstDash val="solid"/>
          </a:ln>
        </p:spPr>
      </p:sp>
      <p:sp>
        <p:nvSpPr>
          <p:cNvPr id="36" name="Text 34"/>
          <p:cNvSpPr/>
          <p:nvPr/>
        </p:nvSpPr>
        <p:spPr>
          <a:xfrm>
            <a:off x="2377440" y="2670048"/>
            <a:ext cx="1965960" cy="457200"/>
          </a:xfrm>
          <a:prstGeom prst="rect">
            <a:avLst/>
          </a:prstGeom>
          <a:noFill/>
          <a:ln/>
        </p:spPr>
        <p:txBody>
          <a:bodyPr wrap="square" lIns="0" tIns="0" rIns="0" bIns="0" rtlCol="0" anchor="ctr"/>
          <a:lstStyle/>
          <a:p>
            <a:pPr algn="ctr" indent="0" marL="0">
              <a:buNone/>
            </a:pPr>
            <a:r>
              <a:rPr lang="en-US" sz="1100" b="1" dirty="0">
                <a:solidFill>
                  <a:srgbClr val="2E5A3E"/>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4846320" y="2734056"/>
            <a:ext cx="1005840" cy="320040"/>
          </a:xfrm>
          <a:prstGeom prst="roundRect">
            <a:avLst>
              <a:gd name="adj" fmla="val 17143"/>
            </a:avLst>
          </a:prstGeom>
          <a:solidFill>
            <a:srgbClr val="F3ECE0"/>
          </a:solidFill>
          <a:ln w="12700">
            <a:solidFill>
              <a:srgbClr val="F3ECE0"/>
            </a:solidFill>
            <a:prstDash val="solid"/>
          </a:ln>
        </p:spPr>
      </p:sp>
      <p:sp>
        <p:nvSpPr>
          <p:cNvPr id="38" name="Text 36"/>
          <p:cNvSpPr/>
          <p:nvPr/>
        </p:nvSpPr>
        <p:spPr>
          <a:xfrm>
            <a:off x="4663440" y="2670048"/>
            <a:ext cx="1371600" cy="457200"/>
          </a:xfrm>
          <a:prstGeom prst="rect">
            <a:avLst/>
          </a:prstGeom>
          <a:noFill/>
          <a:ln/>
        </p:spPr>
        <p:txBody>
          <a:bodyPr wrap="square" lIns="0" tIns="0" rIns="0" bIns="0" rtlCol="0" anchor="ctr"/>
          <a:lstStyle/>
          <a:p>
            <a:pPr algn="ctr" indent="0" marL="0">
              <a:buNone/>
            </a:pPr>
            <a:r>
              <a:rPr lang="en-US" sz="1100" dirty="0">
                <a:solidFill>
                  <a:srgbClr val="8A6A2E"/>
                </a:solidFill>
                <a:latin typeface="Calibri" pitchFamily="34" charset="0"/>
                <a:ea typeface="Calibri" pitchFamily="34" charset="-122"/>
                <a:cs typeface="Calibri" pitchFamily="34" charset="-120"/>
              </a:rPr>
              <a:t>Partial</a:t>
            </a:r>
            <a:endParaRPr lang="en-US" sz="1100" dirty="0"/>
          </a:p>
        </p:txBody>
      </p:sp>
      <p:sp>
        <p:nvSpPr>
          <p:cNvPr id="39" name="Shape 37"/>
          <p:cNvSpPr/>
          <p:nvPr/>
        </p:nvSpPr>
        <p:spPr>
          <a:xfrm>
            <a:off x="6355080" y="2734056"/>
            <a:ext cx="1005840" cy="320040"/>
          </a:xfrm>
          <a:prstGeom prst="roundRect">
            <a:avLst>
              <a:gd name="adj" fmla="val 17143"/>
            </a:avLst>
          </a:prstGeom>
          <a:solidFill>
            <a:srgbClr val="F2E4E4"/>
          </a:solidFill>
          <a:ln w="12700">
            <a:solidFill>
              <a:srgbClr val="F2E4E4"/>
            </a:solidFill>
            <a:prstDash val="solid"/>
          </a:ln>
        </p:spPr>
      </p:sp>
      <p:sp>
        <p:nvSpPr>
          <p:cNvPr id="40" name="Text 38"/>
          <p:cNvSpPr/>
          <p:nvPr/>
        </p:nvSpPr>
        <p:spPr>
          <a:xfrm>
            <a:off x="6172200" y="267004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7498080" y="2734056"/>
            <a:ext cx="1234440" cy="320040"/>
          </a:xfrm>
          <a:prstGeom prst="roundRect">
            <a:avLst>
              <a:gd name="adj" fmla="val 17143"/>
            </a:avLst>
          </a:prstGeom>
          <a:solidFill>
            <a:srgbClr val="F3ECE0"/>
          </a:solidFill>
          <a:ln w="12700">
            <a:solidFill>
              <a:srgbClr val="F3ECE0"/>
            </a:solidFill>
            <a:prstDash val="solid"/>
          </a:ln>
        </p:spPr>
      </p:sp>
      <p:sp>
        <p:nvSpPr>
          <p:cNvPr id="42" name="Text 40"/>
          <p:cNvSpPr/>
          <p:nvPr/>
        </p:nvSpPr>
        <p:spPr>
          <a:xfrm>
            <a:off x="7315200" y="2670048"/>
            <a:ext cx="1600200" cy="457200"/>
          </a:xfrm>
          <a:prstGeom prst="rect">
            <a:avLst/>
          </a:prstGeom>
          <a:noFill/>
          <a:ln/>
        </p:spPr>
        <p:txBody>
          <a:bodyPr wrap="square" lIns="0" tIns="0" rIns="0" bIns="0" rtlCol="0" anchor="ctr"/>
          <a:lstStyle/>
          <a:p>
            <a:pPr algn="ctr" indent="0" marL="0">
              <a:buNone/>
            </a:pPr>
            <a:r>
              <a:rPr lang="en-US" sz="1100" dirty="0">
                <a:solidFill>
                  <a:srgbClr val="8A6A2E"/>
                </a:solidFill>
                <a:latin typeface="Calibri" pitchFamily="34" charset="0"/>
                <a:ea typeface="Calibri" pitchFamily="34" charset="-122"/>
                <a:cs typeface="Calibri" pitchFamily="34" charset="-120"/>
              </a:rPr>
              <a:t>Partial</a:t>
            </a:r>
            <a:endParaRPr lang="en-US" sz="1100" dirty="0"/>
          </a:p>
        </p:txBody>
      </p:sp>
      <p:sp>
        <p:nvSpPr>
          <p:cNvPr id="43" name="Shape 41"/>
          <p:cNvSpPr/>
          <p:nvPr/>
        </p:nvSpPr>
        <p:spPr>
          <a:xfrm>
            <a:off x="347472" y="3172968"/>
            <a:ext cx="8449056" cy="457200"/>
          </a:xfrm>
          <a:prstGeom prst="roundRect">
            <a:avLst>
              <a:gd name="adj" fmla="val 12000"/>
            </a:avLst>
          </a:prstGeom>
          <a:solidFill>
            <a:srgbClr val="F2F2FA"/>
          </a:solidFill>
          <a:ln w="12700">
            <a:solidFill>
              <a:srgbClr val="E0E0F0"/>
            </a:solidFill>
            <a:prstDash val="solid"/>
          </a:ln>
        </p:spPr>
      </p:sp>
      <p:sp>
        <p:nvSpPr>
          <p:cNvPr id="44" name="Text 42"/>
          <p:cNvSpPr/>
          <p:nvPr/>
        </p:nvSpPr>
        <p:spPr>
          <a:xfrm>
            <a:off x="457200" y="3172968"/>
            <a:ext cx="1828800" cy="45720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Alerts trusted contacts</a:t>
            </a:r>
            <a:endParaRPr lang="en-US" sz="1050" dirty="0"/>
          </a:p>
        </p:txBody>
      </p:sp>
      <p:sp>
        <p:nvSpPr>
          <p:cNvPr id="45" name="Shape 43"/>
          <p:cNvSpPr/>
          <p:nvPr/>
        </p:nvSpPr>
        <p:spPr>
          <a:xfrm>
            <a:off x="2560320" y="3236976"/>
            <a:ext cx="1600200" cy="320040"/>
          </a:xfrm>
          <a:prstGeom prst="roundRect">
            <a:avLst>
              <a:gd name="adj" fmla="val 17143"/>
            </a:avLst>
          </a:prstGeom>
          <a:solidFill>
            <a:srgbClr val="E7EFE9"/>
          </a:solidFill>
          <a:ln w="12700">
            <a:solidFill>
              <a:srgbClr val="E7EFE9"/>
            </a:solidFill>
            <a:prstDash val="solid"/>
          </a:ln>
        </p:spPr>
      </p:sp>
      <p:sp>
        <p:nvSpPr>
          <p:cNvPr id="46" name="Text 44"/>
          <p:cNvSpPr/>
          <p:nvPr/>
        </p:nvSpPr>
        <p:spPr>
          <a:xfrm>
            <a:off x="2377440" y="3172968"/>
            <a:ext cx="1965960" cy="457200"/>
          </a:xfrm>
          <a:prstGeom prst="rect">
            <a:avLst/>
          </a:prstGeom>
          <a:noFill/>
          <a:ln/>
        </p:spPr>
        <p:txBody>
          <a:bodyPr wrap="square" lIns="0" tIns="0" rIns="0" bIns="0" rtlCol="0" anchor="ctr"/>
          <a:lstStyle/>
          <a:p>
            <a:pPr algn="ctr" indent="0" marL="0">
              <a:buNone/>
            </a:pPr>
            <a:r>
              <a:rPr lang="en-US" sz="1100" b="1" dirty="0">
                <a:solidFill>
                  <a:srgbClr val="2E5A3E"/>
                </a:solidFill>
                <a:latin typeface="Calibri" pitchFamily="34" charset="0"/>
                <a:ea typeface="Calibri" pitchFamily="34" charset="-122"/>
                <a:cs typeface="Calibri" pitchFamily="34" charset="-120"/>
              </a:rPr>
              <a:t>✓</a:t>
            </a:r>
            <a:endParaRPr lang="en-US" sz="1100" dirty="0"/>
          </a:p>
        </p:txBody>
      </p:sp>
      <p:sp>
        <p:nvSpPr>
          <p:cNvPr id="47" name="Shape 45"/>
          <p:cNvSpPr/>
          <p:nvPr/>
        </p:nvSpPr>
        <p:spPr>
          <a:xfrm>
            <a:off x="4846320" y="3236976"/>
            <a:ext cx="1005840" cy="320040"/>
          </a:xfrm>
          <a:prstGeom prst="roundRect">
            <a:avLst>
              <a:gd name="adj" fmla="val 17143"/>
            </a:avLst>
          </a:prstGeom>
          <a:solidFill>
            <a:srgbClr val="F2E4E4"/>
          </a:solidFill>
          <a:ln w="12700">
            <a:solidFill>
              <a:srgbClr val="F2E4E4"/>
            </a:solidFill>
            <a:prstDash val="solid"/>
          </a:ln>
        </p:spPr>
      </p:sp>
      <p:sp>
        <p:nvSpPr>
          <p:cNvPr id="48" name="Text 46"/>
          <p:cNvSpPr/>
          <p:nvPr/>
        </p:nvSpPr>
        <p:spPr>
          <a:xfrm>
            <a:off x="4663440" y="317296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49" name="Shape 47"/>
          <p:cNvSpPr/>
          <p:nvPr/>
        </p:nvSpPr>
        <p:spPr>
          <a:xfrm>
            <a:off x="6355080" y="3236976"/>
            <a:ext cx="1005840" cy="320040"/>
          </a:xfrm>
          <a:prstGeom prst="roundRect">
            <a:avLst>
              <a:gd name="adj" fmla="val 17143"/>
            </a:avLst>
          </a:prstGeom>
          <a:solidFill>
            <a:srgbClr val="F2E4E4"/>
          </a:solidFill>
          <a:ln w="12700">
            <a:solidFill>
              <a:srgbClr val="F2E4E4"/>
            </a:solidFill>
            <a:prstDash val="solid"/>
          </a:ln>
        </p:spPr>
      </p:sp>
      <p:sp>
        <p:nvSpPr>
          <p:cNvPr id="50" name="Text 48"/>
          <p:cNvSpPr/>
          <p:nvPr/>
        </p:nvSpPr>
        <p:spPr>
          <a:xfrm>
            <a:off x="6172200" y="317296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51" name="Shape 49"/>
          <p:cNvSpPr/>
          <p:nvPr/>
        </p:nvSpPr>
        <p:spPr>
          <a:xfrm>
            <a:off x="7498080" y="3236976"/>
            <a:ext cx="1234440" cy="320040"/>
          </a:xfrm>
          <a:prstGeom prst="roundRect">
            <a:avLst>
              <a:gd name="adj" fmla="val 17143"/>
            </a:avLst>
          </a:prstGeom>
          <a:solidFill>
            <a:srgbClr val="F2E4E4"/>
          </a:solidFill>
          <a:ln w="12700">
            <a:solidFill>
              <a:srgbClr val="F2E4E4"/>
            </a:solidFill>
            <a:prstDash val="solid"/>
          </a:ln>
        </p:spPr>
      </p:sp>
      <p:sp>
        <p:nvSpPr>
          <p:cNvPr id="52" name="Text 50"/>
          <p:cNvSpPr/>
          <p:nvPr/>
        </p:nvSpPr>
        <p:spPr>
          <a:xfrm>
            <a:off x="7315200" y="3172968"/>
            <a:ext cx="16002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53" name="Shape 51"/>
          <p:cNvSpPr/>
          <p:nvPr/>
        </p:nvSpPr>
        <p:spPr>
          <a:xfrm>
            <a:off x="347472" y="3675888"/>
            <a:ext cx="8449056" cy="457200"/>
          </a:xfrm>
          <a:prstGeom prst="roundRect">
            <a:avLst>
              <a:gd name="adj" fmla="val 12000"/>
            </a:avLst>
          </a:prstGeom>
          <a:solidFill>
            <a:srgbClr val="FFFFFF"/>
          </a:solidFill>
          <a:ln w="12700">
            <a:solidFill>
              <a:srgbClr val="E0E0F0"/>
            </a:solidFill>
            <a:prstDash val="solid"/>
          </a:ln>
        </p:spPr>
      </p:sp>
      <p:sp>
        <p:nvSpPr>
          <p:cNvPr id="54" name="Text 52"/>
          <p:cNvSpPr/>
          <p:nvPr/>
        </p:nvSpPr>
        <p:spPr>
          <a:xfrm>
            <a:off x="457200" y="3675888"/>
            <a:ext cx="1828800" cy="45720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Autonomous recovery guidance</a:t>
            </a:r>
            <a:endParaRPr lang="en-US" sz="1050" dirty="0"/>
          </a:p>
        </p:txBody>
      </p:sp>
      <p:sp>
        <p:nvSpPr>
          <p:cNvPr id="55" name="Shape 53"/>
          <p:cNvSpPr/>
          <p:nvPr/>
        </p:nvSpPr>
        <p:spPr>
          <a:xfrm>
            <a:off x="2560320" y="3739896"/>
            <a:ext cx="1600200" cy="320040"/>
          </a:xfrm>
          <a:prstGeom prst="roundRect">
            <a:avLst>
              <a:gd name="adj" fmla="val 17143"/>
            </a:avLst>
          </a:prstGeom>
          <a:solidFill>
            <a:srgbClr val="E7EFE9"/>
          </a:solidFill>
          <a:ln w="12700">
            <a:solidFill>
              <a:srgbClr val="E7EFE9"/>
            </a:solidFill>
            <a:prstDash val="solid"/>
          </a:ln>
        </p:spPr>
      </p:sp>
      <p:sp>
        <p:nvSpPr>
          <p:cNvPr id="56" name="Text 54"/>
          <p:cNvSpPr/>
          <p:nvPr/>
        </p:nvSpPr>
        <p:spPr>
          <a:xfrm>
            <a:off x="2377440" y="3675888"/>
            <a:ext cx="1965960" cy="457200"/>
          </a:xfrm>
          <a:prstGeom prst="rect">
            <a:avLst/>
          </a:prstGeom>
          <a:noFill/>
          <a:ln/>
        </p:spPr>
        <p:txBody>
          <a:bodyPr wrap="square" lIns="0" tIns="0" rIns="0" bIns="0" rtlCol="0" anchor="ctr"/>
          <a:lstStyle/>
          <a:p>
            <a:pPr algn="ctr" indent="0" marL="0">
              <a:buNone/>
            </a:pPr>
            <a:r>
              <a:rPr lang="en-US" sz="1100" b="1" dirty="0">
                <a:solidFill>
                  <a:srgbClr val="2E5A3E"/>
                </a:solidFill>
                <a:latin typeface="Calibri" pitchFamily="34" charset="0"/>
                <a:ea typeface="Calibri" pitchFamily="34" charset="-122"/>
                <a:cs typeface="Calibri" pitchFamily="34" charset="-120"/>
              </a:rPr>
              <a:t>✓</a:t>
            </a:r>
            <a:endParaRPr lang="en-US" sz="1100" dirty="0"/>
          </a:p>
        </p:txBody>
      </p:sp>
      <p:sp>
        <p:nvSpPr>
          <p:cNvPr id="57" name="Shape 55"/>
          <p:cNvSpPr/>
          <p:nvPr/>
        </p:nvSpPr>
        <p:spPr>
          <a:xfrm>
            <a:off x="4846320" y="3739896"/>
            <a:ext cx="1005840" cy="320040"/>
          </a:xfrm>
          <a:prstGeom prst="roundRect">
            <a:avLst>
              <a:gd name="adj" fmla="val 17143"/>
            </a:avLst>
          </a:prstGeom>
          <a:solidFill>
            <a:srgbClr val="F2E4E4"/>
          </a:solidFill>
          <a:ln w="12700">
            <a:solidFill>
              <a:srgbClr val="F2E4E4"/>
            </a:solidFill>
            <a:prstDash val="solid"/>
          </a:ln>
        </p:spPr>
      </p:sp>
      <p:sp>
        <p:nvSpPr>
          <p:cNvPr id="58" name="Text 56"/>
          <p:cNvSpPr/>
          <p:nvPr/>
        </p:nvSpPr>
        <p:spPr>
          <a:xfrm>
            <a:off x="4663440" y="367588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59" name="Shape 57"/>
          <p:cNvSpPr/>
          <p:nvPr/>
        </p:nvSpPr>
        <p:spPr>
          <a:xfrm>
            <a:off x="6355080" y="3739896"/>
            <a:ext cx="1005840" cy="320040"/>
          </a:xfrm>
          <a:prstGeom prst="roundRect">
            <a:avLst>
              <a:gd name="adj" fmla="val 17143"/>
            </a:avLst>
          </a:prstGeom>
          <a:solidFill>
            <a:srgbClr val="F2E4E4"/>
          </a:solidFill>
          <a:ln w="12700">
            <a:solidFill>
              <a:srgbClr val="F2E4E4"/>
            </a:solidFill>
            <a:prstDash val="solid"/>
          </a:ln>
        </p:spPr>
      </p:sp>
      <p:sp>
        <p:nvSpPr>
          <p:cNvPr id="60" name="Text 58"/>
          <p:cNvSpPr/>
          <p:nvPr/>
        </p:nvSpPr>
        <p:spPr>
          <a:xfrm>
            <a:off x="6172200" y="367588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61" name="Shape 59"/>
          <p:cNvSpPr/>
          <p:nvPr/>
        </p:nvSpPr>
        <p:spPr>
          <a:xfrm>
            <a:off x="7498080" y="3739896"/>
            <a:ext cx="1234440" cy="320040"/>
          </a:xfrm>
          <a:prstGeom prst="roundRect">
            <a:avLst>
              <a:gd name="adj" fmla="val 17143"/>
            </a:avLst>
          </a:prstGeom>
          <a:solidFill>
            <a:srgbClr val="F3ECE0"/>
          </a:solidFill>
          <a:ln w="12700">
            <a:solidFill>
              <a:srgbClr val="F3ECE0"/>
            </a:solidFill>
            <a:prstDash val="solid"/>
          </a:ln>
        </p:spPr>
      </p:sp>
      <p:sp>
        <p:nvSpPr>
          <p:cNvPr id="62" name="Text 60"/>
          <p:cNvSpPr/>
          <p:nvPr/>
        </p:nvSpPr>
        <p:spPr>
          <a:xfrm>
            <a:off x="7315200" y="3675888"/>
            <a:ext cx="1600200" cy="457200"/>
          </a:xfrm>
          <a:prstGeom prst="rect">
            <a:avLst/>
          </a:prstGeom>
          <a:noFill/>
          <a:ln/>
        </p:spPr>
        <p:txBody>
          <a:bodyPr wrap="square" lIns="0" tIns="0" rIns="0" bIns="0" rtlCol="0" anchor="ctr"/>
          <a:lstStyle/>
          <a:p>
            <a:pPr algn="ctr" indent="0" marL="0">
              <a:buNone/>
            </a:pPr>
            <a:r>
              <a:rPr lang="en-US" sz="1100" dirty="0">
                <a:solidFill>
                  <a:srgbClr val="8A6A2E"/>
                </a:solidFill>
                <a:latin typeface="Calibri" pitchFamily="34" charset="0"/>
                <a:ea typeface="Calibri" pitchFamily="34" charset="-122"/>
                <a:cs typeface="Calibri" pitchFamily="34" charset="-120"/>
              </a:rPr>
              <a:t>Partial</a:t>
            </a:r>
            <a:endParaRPr lang="en-US" sz="1100" dirty="0"/>
          </a:p>
        </p:txBody>
      </p:sp>
      <p:sp>
        <p:nvSpPr>
          <p:cNvPr id="63" name="Shape 61"/>
          <p:cNvSpPr/>
          <p:nvPr/>
        </p:nvSpPr>
        <p:spPr>
          <a:xfrm>
            <a:off x="347472" y="4178808"/>
            <a:ext cx="8449056" cy="457200"/>
          </a:xfrm>
          <a:prstGeom prst="roundRect">
            <a:avLst>
              <a:gd name="adj" fmla="val 12000"/>
            </a:avLst>
          </a:prstGeom>
          <a:solidFill>
            <a:srgbClr val="F2F2FA"/>
          </a:solidFill>
          <a:ln w="12700">
            <a:solidFill>
              <a:srgbClr val="E0E0F0"/>
            </a:solidFill>
            <a:prstDash val="solid"/>
          </a:ln>
        </p:spPr>
      </p:sp>
      <p:sp>
        <p:nvSpPr>
          <p:cNvPr id="64" name="Text 62"/>
          <p:cNvSpPr/>
          <p:nvPr/>
        </p:nvSpPr>
        <p:spPr>
          <a:xfrm>
            <a:off x="457200" y="4178808"/>
            <a:ext cx="1828800" cy="45720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Aligned with RBI 2026 proposal</a:t>
            </a:r>
            <a:endParaRPr lang="en-US" sz="1050" dirty="0"/>
          </a:p>
        </p:txBody>
      </p:sp>
      <p:sp>
        <p:nvSpPr>
          <p:cNvPr id="65" name="Shape 63"/>
          <p:cNvSpPr/>
          <p:nvPr/>
        </p:nvSpPr>
        <p:spPr>
          <a:xfrm>
            <a:off x="2560320" y="4242816"/>
            <a:ext cx="1600200" cy="320040"/>
          </a:xfrm>
          <a:prstGeom prst="roundRect">
            <a:avLst>
              <a:gd name="adj" fmla="val 17143"/>
            </a:avLst>
          </a:prstGeom>
          <a:solidFill>
            <a:srgbClr val="E7EFE9"/>
          </a:solidFill>
          <a:ln w="12700">
            <a:solidFill>
              <a:srgbClr val="E7EFE9"/>
            </a:solidFill>
            <a:prstDash val="solid"/>
          </a:ln>
        </p:spPr>
      </p:sp>
      <p:sp>
        <p:nvSpPr>
          <p:cNvPr id="66" name="Text 64"/>
          <p:cNvSpPr/>
          <p:nvPr/>
        </p:nvSpPr>
        <p:spPr>
          <a:xfrm>
            <a:off x="2377440" y="4178808"/>
            <a:ext cx="1965960" cy="457200"/>
          </a:xfrm>
          <a:prstGeom prst="rect">
            <a:avLst/>
          </a:prstGeom>
          <a:noFill/>
          <a:ln/>
        </p:spPr>
        <p:txBody>
          <a:bodyPr wrap="square" lIns="0" tIns="0" rIns="0" bIns="0" rtlCol="0" anchor="ctr"/>
          <a:lstStyle/>
          <a:p>
            <a:pPr algn="ctr" indent="0" marL="0">
              <a:buNone/>
            </a:pPr>
            <a:r>
              <a:rPr lang="en-US" sz="1100" b="1" dirty="0">
                <a:solidFill>
                  <a:srgbClr val="2E5A3E"/>
                </a:solidFill>
                <a:latin typeface="Calibri" pitchFamily="34" charset="0"/>
                <a:ea typeface="Calibri" pitchFamily="34" charset="-122"/>
                <a:cs typeface="Calibri" pitchFamily="34" charset="-120"/>
              </a:rPr>
              <a:t>✓</a:t>
            </a:r>
            <a:endParaRPr lang="en-US" sz="1100" dirty="0"/>
          </a:p>
        </p:txBody>
      </p:sp>
      <p:sp>
        <p:nvSpPr>
          <p:cNvPr id="67" name="Shape 65"/>
          <p:cNvSpPr/>
          <p:nvPr/>
        </p:nvSpPr>
        <p:spPr>
          <a:xfrm>
            <a:off x="4846320" y="4242816"/>
            <a:ext cx="1005840" cy="320040"/>
          </a:xfrm>
          <a:prstGeom prst="roundRect">
            <a:avLst>
              <a:gd name="adj" fmla="val 17143"/>
            </a:avLst>
          </a:prstGeom>
          <a:solidFill>
            <a:srgbClr val="F2E4E4"/>
          </a:solidFill>
          <a:ln w="12700">
            <a:solidFill>
              <a:srgbClr val="F2E4E4"/>
            </a:solidFill>
            <a:prstDash val="solid"/>
          </a:ln>
        </p:spPr>
      </p:sp>
      <p:sp>
        <p:nvSpPr>
          <p:cNvPr id="68" name="Text 66"/>
          <p:cNvSpPr/>
          <p:nvPr/>
        </p:nvSpPr>
        <p:spPr>
          <a:xfrm>
            <a:off x="4663440" y="4178808"/>
            <a:ext cx="13716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69" name="Shape 67"/>
          <p:cNvSpPr/>
          <p:nvPr/>
        </p:nvSpPr>
        <p:spPr>
          <a:xfrm>
            <a:off x="6355080" y="4242816"/>
            <a:ext cx="1005840" cy="320040"/>
          </a:xfrm>
          <a:prstGeom prst="roundRect">
            <a:avLst>
              <a:gd name="adj" fmla="val 17143"/>
            </a:avLst>
          </a:prstGeom>
          <a:solidFill>
            <a:srgbClr val="F3ECE0"/>
          </a:solidFill>
          <a:ln w="12700">
            <a:solidFill>
              <a:srgbClr val="F3ECE0"/>
            </a:solidFill>
            <a:prstDash val="solid"/>
          </a:ln>
        </p:spPr>
      </p:sp>
      <p:sp>
        <p:nvSpPr>
          <p:cNvPr id="70" name="Text 68"/>
          <p:cNvSpPr/>
          <p:nvPr/>
        </p:nvSpPr>
        <p:spPr>
          <a:xfrm>
            <a:off x="6172200" y="4178808"/>
            <a:ext cx="1371600" cy="457200"/>
          </a:xfrm>
          <a:prstGeom prst="rect">
            <a:avLst/>
          </a:prstGeom>
          <a:noFill/>
          <a:ln/>
        </p:spPr>
        <p:txBody>
          <a:bodyPr wrap="square" lIns="0" tIns="0" rIns="0" bIns="0" rtlCol="0" anchor="ctr"/>
          <a:lstStyle/>
          <a:p>
            <a:pPr algn="ctr" indent="0" marL="0">
              <a:buNone/>
            </a:pPr>
            <a:r>
              <a:rPr lang="en-US" sz="1100" dirty="0">
                <a:solidFill>
                  <a:srgbClr val="8A6A2E"/>
                </a:solidFill>
                <a:latin typeface="Calibri" pitchFamily="34" charset="0"/>
                <a:ea typeface="Calibri" pitchFamily="34" charset="-122"/>
                <a:cs typeface="Calibri" pitchFamily="34" charset="-120"/>
              </a:rPr>
              <a:t>Partial</a:t>
            </a:r>
            <a:endParaRPr lang="en-US" sz="1100" dirty="0"/>
          </a:p>
        </p:txBody>
      </p:sp>
      <p:sp>
        <p:nvSpPr>
          <p:cNvPr id="71" name="Shape 69"/>
          <p:cNvSpPr/>
          <p:nvPr/>
        </p:nvSpPr>
        <p:spPr>
          <a:xfrm>
            <a:off x="7498080" y="4242816"/>
            <a:ext cx="1234440" cy="320040"/>
          </a:xfrm>
          <a:prstGeom prst="roundRect">
            <a:avLst>
              <a:gd name="adj" fmla="val 17143"/>
            </a:avLst>
          </a:prstGeom>
          <a:solidFill>
            <a:srgbClr val="F2E4E4"/>
          </a:solidFill>
          <a:ln w="12700">
            <a:solidFill>
              <a:srgbClr val="F2E4E4"/>
            </a:solidFill>
            <a:prstDash val="solid"/>
          </a:ln>
        </p:spPr>
      </p:sp>
      <p:sp>
        <p:nvSpPr>
          <p:cNvPr id="72" name="Text 70"/>
          <p:cNvSpPr/>
          <p:nvPr/>
        </p:nvSpPr>
        <p:spPr>
          <a:xfrm>
            <a:off x="7315200" y="4178808"/>
            <a:ext cx="1600200" cy="457200"/>
          </a:xfrm>
          <a:prstGeom prst="rect">
            <a:avLst/>
          </a:prstGeom>
          <a:noFill/>
          <a:ln/>
        </p:spPr>
        <p:txBody>
          <a:bodyPr wrap="square" lIns="0" tIns="0" rIns="0" bIns="0" rtlCol="0" anchor="ctr"/>
          <a:lstStyle/>
          <a:p>
            <a:pPr algn="ctr" indent="0" marL="0">
              <a:buNone/>
            </a:pPr>
            <a:r>
              <a:rPr lang="en-US" sz="1100" dirty="0">
                <a:solidFill>
                  <a:srgbClr val="8A3A3A"/>
                </a:solidFill>
                <a:latin typeface="Calibri" pitchFamily="34" charset="0"/>
                <a:ea typeface="Calibri" pitchFamily="34" charset="-122"/>
                <a:cs typeface="Calibri" pitchFamily="34" charset="-120"/>
              </a:rPr>
              <a:t>✗</a:t>
            </a:r>
            <a:endParaRPr lang="en-US" sz="1100" dirty="0"/>
          </a:p>
        </p:txBody>
      </p:sp>
      <p:sp>
        <p:nvSpPr>
          <p:cNvPr id="73" name="Shape 71"/>
          <p:cNvSpPr/>
          <p:nvPr/>
        </p:nvSpPr>
        <p:spPr>
          <a:xfrm>
            <a:off x="347472" y="4663440"/>
            <a:ext cx="8449056" cy="347472"/>
          </a:xfrm>
          <a:prstGeom prst="roundRect">
            <a:avLst>
              <a:gd name="adj" fmla="val 21053"/>
            </a:avLst>
          </a:prstGeom>
          <a:solidFill>
            <a:srgbClr val="F4F0E6"/>
          </a:solidFill>
          <a:ln w="12700">
            <a:solidFill>
              <a:srgbClr val="D8C8A0"/>
            </a:solidFill>
            <a:prstDash val="solid"/>
          </a:ln>
        </p:spPr>
      </p:sp>
      <p:sp>
        <p:nvSpPr>
          <p:cNvPr id="74" name="Text 72"/>
          <p:cNvSpPr/>
          <p:nvPr/>
        </p:nvSpPr>
        <p:spPr>
          <a:xfrm>
            <a:off x="502920" y="4700016"/>
            <a:ext cx="8229600" cy="292608"/>
          </a:xfrm>
          <a:prstGeom prst="rect">
            <a:avLst/>
          </a:prstGeom>
          <a:noFill/>
          <a:ln/>
        </p:spPr>
        <p:txBody>
          <a:bodyPr wrap="square" lIns="0" tIns="0" rIns="0" bIns="0" rtlCol="0" anchor="ctr"/>
          <a:lstStyle/>
          <a:p>
            <a:pPr algn="ctr" indent="0" marL="0">
              <a:buNone/>
            </a:pPr>
            <a:r>
              <a:rPr lang="en-US" sz="950" dirty="0">
                <a:solidFill>
                  <a:srgbClr val="4D5A6B"/>
                </a:solidFill>
                <a:latin typeface="Calibri" pitchFamily="34" charset="0"/>
                <a:ea typeface="Calibri" pitchFamily="34" charset="-122"/>
                <a:cs typeface="Calibri" pitchFamily="34" charset="-120"/>
              </a:rPr>
              <a:t>Kavach uniquely combines proactive detection, immediate trusted-circle intervention, and multilingual recovery — aligned with RBI proposals and Bharat-scale needs.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2B3F58"/>
          </a:solidFill>
          <a:ln w="12700">
            <a:solidFill>
              <a:srgbClr val="2B3F58"/>
            </a:solidFill>
            <a:prstDash val="solid"/>
          </a:ln>
        </p:spPr>
      </p:sp>
      <p:sp>
        <p:nvSpPr>
          <p:cNvPr id="3" name="Shape 1"/>
          <p:cNvSpPr/>
          <p:nvPr/>
        </p:nvSpPr>
        <p:spPr>
          <a:xfrm>
            <a:off x="6858000" y="2286000"/>
            <a:ext cx="3657600" cy="3657600"/>
          </a:xfrm>
          <a:prstGeom prst="ellipse">
            <a:avLst/>
          </a:prstGeom>
          <a:solidFill>
            <a:srgbClr val="2B3F58"/>
          </a:solidFill>
          <a:ln w="12700">
            <a:solidFill>
              <a:srgbClr val="2B3F58"/>
            </a:solidFill>
            <a:prstDash val="solid"/>
          </a:ln>
        </p:spPr>
      </p:sp>
      <p:sp>
        <p:nvSpPr>
          <p:cNvPr id="4" name="Shape 2"/>
          <p:cNvSpPr/>
          <p:nvPr/>
        </p:nvSpPr>
        <p:spPr>
          <a:xfrm>
            <a:off x="7772400" y="3200400"/>
            <a:ext cx="1828800" cy="1828800"/>
          </a:xfrm>
          <a:prstGeom prst="ellipse">
            <a:avLst/>
          </a:prstGeom>
          <a:solidFill>
            <a:srgbClr val="9C7A3C">
              <a:alpha val="30000"/>
            </a:srgbClr>
          </a:solidFill>
          <a:ln w="12700">
            <a:solidFill>
              <a:srgbClr val="9C7A3C">
                <a:alpha val="30000"/>
              </a:srgbClr>
            </a:solidFill>
            <a:prstDash val="solid"/>
          </a:ln>
        </p:spPr>
      </p:sp>
      <p:sp>
        <p:nvSpPr>
          <p:cNvPr id="5" name="Text 3"/>
          <p:cNvSpPr/>
          <p:nvPr/>
        </p:nvSpPr>
        <p:spPr>
          <a:xfrm>
            <a:off x="548640" y="640080"/>
            <a:ext cx="7315200" cy="868680"/>
          </a:xfrm>
          <a:prstGeom prst="rect">
            <a:avLst/>
          </a:prstGeom>
          <a:noFill/>
          <a:ln/>
        </p:spPr>
        <p:txBody>
          <a:bodyPr wrap="square" lIns="0" tIns="0" rIns="0" bIns="0" rtlCol="0" anchor="ctr"/>
          <a:lstStyle/>
          <a:p>
            <a:pPr algn="l" indent="0" marL="0">
              <a:buNone/>
            </a:pPr>
            <a:r>
              <a:rPr lang="en-US" sz="5800" b="1" dirty="0">
                <a:solidFill>
                  <a:srgbClr val="FFFFFF"/>
                </a:solidFill>
                <a:latin typeface="Cambria" pitchFamily="34" charset="0"/>
                <a:ea typeface="Cambria" pitchFamily="34" charset="-122"/>
                <a:cs typeface="Cambria" pitchFamily="34" charset="-120"/>
              </a:rPr>
              <a:t>KAVACH 2.0</a:t>
            </a:r>
            <a:endParaRPr lang="en-US" sz="5800" dirty="0"/>
          </a:p>
        </p:txBody>
      </p:sp>
      <p:sp>
        <p:nvSpPr>
          <p:cNvPr id="6" name="Text 4"/>
          <p:cNvSpPr/>
          <p:nvPr/>
        </p:nvSpPr>
        <p:spPr>
          <a:xfrm>
            <a:off x="548640" y="1645920"/>
            <a:ext cx="6858000" cy="384048"/>
          </a:xfrm>
          <a:prstGeom prst="rect">
            <a:avLst/>
          </a:prstGeom>
          <a:noFill/>
          <a:ln/>
        </p:spPr>
        <p:txBody>
          <a:bodyPr wrap="square" lIns="0" tIns="0" rIns="0" bIns="0" rtlCol="0" anchor="ctr"/>
          <a:lstStyle/>
          <a:p>
            <a:pPr algn="l" indent="0" marL="0">
              <a:buNone/>
            </a:pPr>
            <a:r>
              <a:rPr lang="en-US" sz="1700" i="1" dirty="0">
                <a:solidFill>
                  <a:srgbClr val="9AA6B2"/>
                </a:solidFill>
                <a:latin typeface="Calibri" pitchFamily="34" charset="0"/>
                <a:ea typeface="Calibri" pitchFamily="34" charset="-122"/>
                <a:cs typeface="Calibri" pitchFamily="34" charset="-120"/>
              </a:rPr>
              <a:t>Every scam works by making you feel alone.</a:t>
            </a:r>
            <a:endParaRPr lang="en-US" sz="1700" dirty="0"/>
          </a:p>
        </p:txBody>
      </p:sp>
      <p:sp>
        <p:nvSpPr>
          <p:cNvPr id="7" name="Text 5"/>
          <p:cNvSpPr/>
          <p:nvPr/>
        </p:nvSpPr>
        <p:spPr>
          <a:xfrm>
            <a:off x="548640" y="2057400"/>
            <a:ext cx="6858000" cy="384048"/>
          </a:xfrm>
          <a:prstGeom prst="rect">
            <a:avLst/>
          </a:prstGeom>
          <a:noFill/>
          <a:ln/>
        </p:spPr>
        <p:txBody>
          <a:bodyPr wrap="square" lIns="0" tIns="0" rIns="0" bIns="0" rtlCol="0" anchor="ctr"/>
          <a:lstStyle/>
          <a:p>
            <a:pPr algn="l" indent="0" marL="0">
              <a:buNone/>
            </a:pPr>
            <a:r>
              <a:rPr lang="en-US" sz="1700" b="1" dirty="0">
                <a:solidFill>
                  <a:srgbClr val="9C7A3C"/>
                </a:solidFill>
                <a:latin typeface="Calibri" pitchFamily="34" charset="0"/>
                <a:ea typeface="Calibri" pitchFamily="34" charset="-122"/>
                <a:cs typeface="Calibri" pitchFamily="34" charset="-120"/>
              </a:rPr>
              <a:t>Kavach makes sure you never are.</a:t>
            </a:r>
            <a:endParaRPr lang="en-US" sz="1700" dirty="0"/>
          </a:p>
        </p:txBody>
      </p:sp>
      <p:sp>
        <p:nvSpPr>
          <p:cNvPr id="8" name="Shape 6"/>
          <p:cNvSpPr/>
          <p:nvPr/>
        </p:nvSpPr>
        <p:spPr>
          <a:xfrm>
            <a:off x="502920" y="2971800"/>
            <a:ext cx="2560320" cy="1261872"/>
          </a:xfrm>
          <a:prstGeom prst="roundRect">
            <a:avLst>
              <a:gd name="adj" fmla="val 8696"/>
            </a:avLst>
          </a:prstGeom>
          <a:solidFill>
            <a:srgbClr val="2B3F58"/>
          </a:solidFill>
          <a:ln w="12700">
            <a:solidFill>
              <a:srgbClr val="2B3F58"/>
            </a:solidFill>
            <a:prstDash val="solid"/>
          </a:ln>
        </p:spPr>
      </p:sp>
      <p:sp>
        <p:nvSpPr>
          <p:cNvPr id="9" name="Text 7"/>
          <p:cNvSpPr/>
          <p:nvPr/>
        </p:nvSpPr>
        <p:spPr>
          <a:xfrm>
            <a:off x="502920" y="3035808"/>
            <a:ext cx="256032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500M+</a:t>
            </a:r>
            <a:endParaRPr lang="en-US" sz="2600" dirty="0"/>
          </a:p>
        </p:txBody>
      </p:sp>
      <p:sp>
        <p:nvSpPr>
          <p:cNvPr id="10" name="Text 8"/>
          <p:cNvSpPr/>
          <p:nvPr/>
        </p:nvSpPr>
        <p:spPr>
          <a:xfrm>
            <a:off x="502920" y="3584448"/>
            <a:ext cx="2560320" cy="502920"/>
          </a:xfrm>
          <a:prstGeom prst="rect">
            <a:avLst/>
          </a:prstGeom>
          <a:noFill/>
          <a:ln/>
        </p:spPr>
        <p:txBody>
          <a:bodyPr wrap="square" lIns="0" tIns="0" rIns="0" bIns="0" rtlCol="0" anchor="ctr"/>
          <a:lstStyle/>
          <a:p>
            <a:pPr algn="ctr" indent="0" marL="0">
              <a:buNone/>
            </a:pPr>
            <a:r>
              <a:rPr lang="en-US" sz="1050" dirty="0">
                <a:solidFill>
                  <a:srgbClr val="9AA6B2"/>
                </a:solidFill>
                <a:latin typeface="Calibri" pitchFamily="34" charset="0"/>
                <a:ea typeface="Calibri" pitchFamily="34" charset="-122"/>
                <a:cs typeface="Calibri" pitchFamily="34" charset="-120"/>
              </a:rPr>
              <a:t>Users addressable today</a:t>
            </a:r>
            <a:endParaRPr lang="en-US" sz="1050" dirty="0"/>
          </a:p>
        </p:txBody>
      </p:sp>
      <p:sp>
        <p:nvSpPr>
          <p:cNvPr id="11" name="Shape 9"/>
          <p:cNvSpPr/>
          <p:nvPr/>
        </p:nvSpPr>
        <p:spPr>
          <a:xfrm>
            <a:off x="3337560" y="2971800"/>
            <a:ext cx="2560320" cy="1261872"/>
          </a:xfrm>
          <a:prstGeom prst="roundRect">
            <a:avLst>
              <a:gd name="adj" fmla="val 8696"/>
            </a:avLst>
          </a:prstGeom>
          <a:solidFill>
            <a:srgbClr val="2B3F58"/>
          </a:solidFill>
          <a:ln w="12700">
            <a:solidFill>
              <a:srgbClr val="2B3F58"/>
            </a:solidFill>
            <a:prstDash val="solid"/>
          </a:ln>
        </p:spPr>
      </p:sp>
      <p:sp>
        <p:nvSpPr>
          <p:cNvPr id="12" name="Text 10"/>
          <p:cNvSpPr/>
          <p:nvPr/>
        </p:nvSpPr>
        <p:spPr>
          <a:xfrm>
            <a:off x="3337560" y="3035808"/>
            <a:ext cx="256032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 sprint</a:t>
            </a:r>
            <a:endParaRPr lang="en-US" sz="2600" dirty="0"/>
          </a:p>
        </p:txBody>
      </p:sp>
      <p:sp>
        <p:nvSpPr>
          <p:cNvPr id="13" name="Text 11"/>
          <p:cNvSpPr/>
          <p:nvPr/>
        </p:nvSpPr>
        <p:spPr>
          <a:xfrm>
            <a:off x="3337560" y="3584448"/>
            <a:ext cx="2560320" cy="502920"/>
          </a:xfrm>
          <a:prstGeom prst="rect">
            <a:avLst/>
          </a:prstGeom>
          <a:noFill/>
          <a:ln/>
        </p:spPr>
        <p:txBody>
          <a:bodyPr wrap="square" lIns="0" tIns="0" rIns="0" bIns="0" rtlCol="0" anchor="ctr"/>
          <a:lstStyle/>
          <a:p>
            <a:pPr algn="ctr" indent="0" marL="0">
              <a:buNone/>
            </a:pPr>
            <a:r>
              <a:rPr lang="en-US" sz="1050" dirty="0">
                <a:solidFill>
                  <a:srgbClr val="9AA6B2"/>
                </a:solidFill>
                <a:latin typeface="Calibri" pitchFamily="34" charset="0"/>
                <a:ea typeface="Calibri" pitchFamily="34" charset="-122"/>
                <a:cs typeface="Calibri" pitchFamily="34" charset="-120"/>
              </a:rPr>
              <a:t>To a working demo</a:t>
            </a:r>
            <a:endParaRPr lang="en-US" sz="1050" dirty="0"/>
          </a:p>
        </p:txBody>
      </p:sp>
      <p:sp>
        <p:nvSpPr>
          <p:cNvPr id="14" name="Shape 12"/>
          <p:cNvSpPr/>
          <p:nvPr/>
        </p:nvSpPr>
        <p:spPr>
          <a:xfrm>
            <a:off x="6172200" y="2971800"/>
            <a:ext cx="2560320" cy="1261872"/>
          </a:xfrm>
          <a:prstGeom prst="roundRect">
            <a:avLst>
              <a:gd name="adj" fmla="val 8696"/>
            </a:avLst>
          </a:prstGeom>
          <a:solidFill>
            <a:srgbClr val="2B3F58"/>
          </a:solidFill>
          <a:ln w="12700">
            <a:solidFill>
              <a:srgbClr val="2B3F58"/>
            </a:solidFill>
            <a:prstDash val="solid"/>
          </a:ln>
        </p:spPr>
      </p:sp>
      <p:sp>
        <p:nvSpPr>
          <p:cNvPr id="15" name="Text 13"/>
          <p:cNvSpPr/>
          <p:nvPr/>
        </p:nvSpPr>
        <p:spPr>
          <a:xfrm>
            <a:off x="6172200" y="3035808"/>
            <a:ext cx="2560320" cy="53035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Zero</a:t>
            </a:r>
            <a:endParaRPr lang="en-US" sz="2600" dirty="0"/>
          </a:p>
        </p:txBody>
      </p:sp>
      <p:sp>
        <p:nvSpPr>
          <p:cNvPr id="16" name="Text 14"/>
          <p:cNvSpPr/>
          <p:nvPr/>
        </p:nvSpPr>
        <p:spPr>
          <a:xfrm>
            <a:off x="6172200" y="3584448"/>
            <a:ext cx="2560320" cy="502920"/>
          </a:xfrm>
          <a:prstGeom prst="rect">
            <a:avLst/>
          </a:prstGeom>
          <a:noFill/>
          <a:ln/>
        </p:spPr>
        <p:txBody>
          <a:bodyPr wrap="square" lIns="0" tIns="0" rIns="0" bIns="0" rtlCol="0" anchor="ctr"/>
          <a:lstStyle/>
          <a:p>
            <a:pPr algn="ctr" indent="0" marL="0">
              <a:buNone/>
            </a:pPr>
            <a:r>
              <a:rPr lang="en-US" sz="1050" dirty="0">
                <a:solidFill>
                  <a:srgbClr val="9AA6B2"/>
                </a:solidFill>
                <a:latin typeface="Calibri" pitchFamily="34" charset="0"/>
                <a:ea typeface="Calibri" pitchFamily="34" charset="-122"/>
                <a:cs typeface="Calibri" pitchFamily="34" charset="-120"/>
              </a:rPr>
              <a:t>Proprietary data required</a:t>
            </a:r>
            <a:endParaRPr lang="en-US" sz="1050" dirty="0"/>
          </a:p>
        </p:txBody>
      </p:sp>
      <p:sp>
        <p:nvSpPr>
          <p:cNvPr id="17" name="Shape 15"/>
          <p:cNvSpPr/>
          <p:nvPr/>
        </p:nvSpPr>
        <p:spPr>
          <a:xfrm>
            <a:off x="0" y="4434840"/>
            <a:ext cx="9144000" cy="708660"/>
          </a:xfrm>
          <a:prstGeom prst="rect">
            <a:avLst/>
          </a:prstGeom>
          <a:solidFill>
            <a:srgbClr val="9C7A3C"/>
          </a:solidFill>
          <a:ln w="12700">
            <a:solidFill>
              <a:srgbClr val="9C7A3C"/>
            </a:solidFill>
            <a:prstDash val="solid"/>
          </a:ln>
        </p:spPr>
      </p:sp>
      <p:sp>
        <p:nvSpPr>
          <p:cNvPr id="18" name="Text 16"/>
          <p:cNvSpPr/>
          <p:nvPr/>
        </p:nvSpPr>
        <p:spPr>
          <a:xfrm>
            <a:off x="457200" y="4507992"/>
            <a:ext cx="8229600" cy="502920"/>
          </a:xfrm>
          <a:prstGeom prst="rect">
            <a:avLst/>
          </a:prstGeom>
          <a:noFill/>
          <a:ln/>
        </p:spPr>
        <p:txBody>
          <a:bodyPr wrap="square" lIns="0" tIns="0" rIns="0" bIns="0" rtlCol="0" anchor="ctr"/>
          <a:lstStyle/>
          <a:p>
            <a:pPr algn="ctr" indent="0" marL="0">
              <a:buNone/>
            </a:pPr>
            <a:r>
              <a:rPr lang="en-US" sz="1250" b="1" spc="50" kern="0" dirty="0">
                <a:solidFill>
                  <a:srgbClr val="FFFFFF"/>
                </a:solidFill>
                <a:latin typeface="Calibri" pitchFamily="34" charset="0"/>
                <a:ea typeface="Calibri" pitchFamily="34" charset="-122"/>
                <a:cs typeface="Calibri" pitchFamily="34" charset="-120"/>
              </a:rPr>
              <a:t>Built for Bharat  ·  Powered by Agentic AI  ·  Team Bloom — ScriptedBy{Her} 2.0, Meesho</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Kavach 2.0 — ScriptedBy{Her} 2.0</dc:title>
  <dc:subject>PptxGenJS Presentation</dc:subject>
  <dc:creator>PptxGenJS</dc:creator>
  <cp:lastModifiedBy>PptxGenJS</cp:lastModifiedBy>
  <cp:revision>1</cp:revision>
  <dcterms:created xsi:type="dcterms:W3CDTF">2026-06-30T06:25:21Z</dcterms:created>
  <dcterms:modified xsi:type="dcterms:W3CDTF">2026-06-30T06:25:21Z</dcterms:modified>
</cp:coreProperties>
</file>